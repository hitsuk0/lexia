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76" r:id="rId5"/>
    <p:sldId id="259" r:id="rId6"/>
    <p:sldId id="260" r:id="rId7"/>
    <p:sldId id="269" r:id="rId8"/>
    <p:sldId id="279" r:id="rId9"/>
    <p:sldId id="280" r:id="rId10"/>
    <p:sldId id="261" r:id="rId11"/>
    <p:sldId id="267" r:id="rId12"/>
    <p:sldId id="268" r:id="rId13"/>
    <p:sldId id="262" r:id="rId14"/>
    <p:sldId id="271" r:id="rId15"/>
    <p:sldId id="263" r:id="rId16"/>
    <p:sldId id="266" r:id="rId17"/>
    <p:sldId id="272" r:id="rId18"/>
    <p:sldId id="265" r:id="rId19"/>
    <p:sldId id="273" r:id="rId20"/>
    <p:sldId id="277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SemiBold" panose="000007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A145"/>
    <a:srgbClr val="FA8B2F"/>
    <a:srgbClr val="068CBD"/>
    <a:srgbClr val="828282"/>
    <a:srgbClr val="749FD4"/>
    <a:srgbClr val="BA962B"/>
    <a:srgbClr val="DEB333"/>
    <a:srgbClr val="70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B3ADF-1003-E1C3-DF62-0C16A944E0D3}" v="30" dt="2026-06-13T18:50:21.619"/>
    <p1510:client id="{11108D2E-913B-432C-8A51-8AE447AF12A6}" v="715" dt="2026-06-13T10:08:45.472"/>
    <p1510:client id="{18F155FF-1C8F-D7FB-1DDD-E2869C6AA9E2}" v="122" dt="2026-06-12T16:12:47.190"/>
    <p1510:client id="{301117EA-2ACD-4649-2321-123A84D6F8A8}" v="41" dt="2026-06-14T07:19:51.141"/>
    <p1510:client id="{3081EEBD-8445-0103-2DFF-4F71ADE2F678}" v="1349" dt="2026-06-14T15:01:35.637"/>
    <p1510:client id="{E3AF2A0B-75BF-9D5D-DB11-3BE282C9089A}" v="50" dt="2026-06-13T18:51:07.524"/>
    <p1510:client id="{E57E6E49-D2F7-2A07-0925-AE502B1B40CC}" v="72" dt="2026-06-12T15:07:30.321"/>
    <p1510:client id="{F7D000DE-D16E-080C-09FC-6F0A2225CAB9}" v="1463" dt="2026-06-12T17:55:17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9DFDC18-6C33-3C68-C5D9-B6468F55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BCCD3104-13E2-AA66-2B00-8E655A4CD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D5BB44B9-0B67-3CD5-097F-A454F612A7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79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9792804C-7713-4939-2AAB-12F019E5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>
            <a:extLst>
              <a:ext uri="{FF2B5EF4-FFF2-40B4-BE49-F238E27FC236}">
                <a16:creationId xmlns:a16="http://schemas.microsoft.com/office/drawing/2014/main" id="{43324BCA-8A1D-D9DD-057A-F0FB893FE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8C1B6C8B-751A-7F20-2882-36135AD4E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949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6CBC6589-9118-A10E-8F7B-7864DCEF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>
            <a:extLst>
              <a:ext uri="{FF2B5EF4-FFF2-40B4-BE49-F238E27FC236}">
                <a16:creationId xmlns:a16="http://schemas.microsoft.com/office/drawing/2014/main" id="{F7308319-9351-8253-F548-86BFF4504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0D4745FE-1818-4F72-734F-917F18743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7687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6AD5577-E90B-98A8-F9B4-F0BF185F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>
            <a:extLst>
              <a:ext uri="{FF2B5EF4-FFF2-40B4-BE49-F238E27FC236}">
                <a16:creationId xmlns:a16="http://schemas.microsoft.com/office/drawing/2014/main" id="{DCA21138-6689-665A-A950-462ED0320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3F2E8FDF-C1B2-0B6A-9CB1-9CD9712E8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830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23D8BFF-55C3-D311-1FB6-6AA649A8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>
            <a:extLst>
              <a:ext uri="{FF2B5EF4-FFF2-40B4-BE49-F238E27FC236}">
                <a16:creationId xmlns:a16="http://schemas.microsoft.com/office/drawing/2014/main" id="{ED2C798F-058A-2279-8339-6B7A0F8FA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>
            <a:extLst>
              <a:ext uri="{FF2B5EF4-FFF2-40B4-BE49-F238E27FC236}">
                <a16:creationId xmlns:a16="http://schemas.microsoft.com/office/drawing/2014/main" id="{86DAC46F-8658-58EC-8ECF-B08F8C5B6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411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A69DC99-3F93-EBA0-29E0-07CB0F23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>
            <a:extLst>
              <a:ext uri="{FF2B5EF4-FFF2-40B4-BE49-F238E27FC236}">
                <a16:creationId xmlns:a16="http://schemas.microsoft.com/office/drawing/2014/main" id="{0E9B8E3A-E5FB-58B3-45B9-6AE76A08B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>
            <a:extLst>
              <a:ext uri="{FF2B5EF4-FFF2-40B4-BE49-F238E27FC236}">
                <a16:creationId xmlns:a16="http://schemas.microsoft.com/office/drawing/2014/main" id="{E90A0F6A-8229-2F7E-7A27-42155C0EF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7348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8E7C285E-3C55-BE51-ACDA-7D2B9FC9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>
            <a:extLst>
              <a:ext uri="{FF2B5EF4-FFF2-40B4-BE49-F238E27FC236}">
                <a16:creationId xmlns:a16="http://schemas.microsoft.com/office/drawing/2014/main" id="{52BA2FD5-4D50-7479-C696-92DD15DEA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>
            <a:extLst>
              <a:ext uri="{FF2B5EF4-FFF2-40B4-BE49-F238E27FC236}">
                <a16:creationId xmlns:a16="http://schemas.microsoft.com/office/drawing/2014/main" id="{ED0CF357-4C7B-5EC1-0114-206733F29C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4852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00BFCDAA-D4E0-8E46-43B5-C4BECF730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E440362D-8E0A-7523-FC6D-63A0A0D52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>
            <a:extLst>
              <a:ext uri="{FF2B5EF4-FFF2-40B4-BE49-F238E27FC236}">
                <a16:creationId xmlns:a16="http://schemas.microsoft.com/office/drawing/2014/main" id="{24C0A845-07DE-1F9E-6069-A77A10B21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666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56CADBBD-D248-D8C2-D599-64B8D938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>
            <a:extLst>
              <a:ext uri="{FF2B5EF4-FFF2-40B4-BE49-F238E27FC236}">
                <a16:creationId xmlns:a16="http://schemas.microsoft.com/office/drawing/2014/main" id="{B68AC215-2EF1-A170-B9FB-F50F361EC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>
            <a:extLst>
              <a:ext uri="{FF2B5EF4-FFF2-40B4-BE49-F238E27FC236}">
                <a16:creationId xmlns:a16="http://schemas.microsoft.com/office/drawing/2014/main" id="{F24F3E6E-DA5B-252B-5EB2-007246C52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3345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F2D73546-B620-4017-539E-B931BD7E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004EC71C-F36D-E268-2AD3-CB56A3648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50BBAEC1-F554-D167-A360-BAE3A1C111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5201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DE36B2B1-E7D9-3074-4C21-812AD7C4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>
            <a:extLst>
              <a:ext uri="{FF2B5EF4-FFF2-40B4-BE49-F238E27FC236}">
                <a16:creationId xmlns:a16="http://schemas.microsoft.com/office/drawing/2014/main" id="{260127DF-D76D-7FE1-648E-9C92C50AF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>
            <a:extLst>
              <a:ext uri="{FF2B5EF4-FFF2-40B4-BE49-F238E27FC236}">
                <a16:creationId xmlns:a16="http://schemas.microsoft.com/office/drawing/2014/main" id="{EDDDF165-E2B2-AD85-05EE-A539CCD2D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587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13582" y="1603230"/>
            <a:ext cx="55473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B3294"/>
                </a:solidFill>
                <a:latin typeface="Lato"/>
                <a:ea typeface="Lato"/>
                <a:cs typeface="Lato"/>
                <a:sym typeface="Lato"/>
              </a:rPr>
              <a:t>PROJET INTÉGRÉ | BLOC 2 INFORMATIQUE</a:t>
            </a:r>
            <a:endParaRPr lang="en-US" sz="1600"/>
          </a:p>
        </p:txBody>
      </p:sp>
      <p:sp>
        <p:nvSpPr>
          <p:cNvPr id="86" name="Google Shape;86;p13"/>
          <p:cNvSpPr txBox="1"/>
          <p:nvPr/>
        </p:nvSpPr>
        <p:spPr>
          <a:xfrm>
            <a:off x="1214857" y="527970"/>
            <a:ext cx="694752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5400" b="1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Application Lexia</a:t>
            </a:r>
            <a:endParaRPr lang="en-US"/>
          </a:p>
        </p:txBody>
      </p:sp>
      <p:sp>
        <p:nvSpPr>
          <p:cNvPr id="87" name="Google Shape;87;p13"/>
          <p:cNvSpPr/>
          <p:nvPr/>
        </p:nvSpPr>
        <p:spPr>
          <a:xfrm>
            <a:off x="1213905" y="1438442"/>
            <a:ext cx="1840940" cy="62444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90850" y="5931529"/>
            <a:ext cx="62103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Année </a:t>
            </a:r>
            <a:r>
              <a:rPr lang="en-US" sz="1800" i="1" err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académique</a:t>
            </a: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 </a:t>
            </a:r>
            <a:endParaRPr lang="en-US" sz="1800" i="1">
              <a:solidFill>
                <a:schemeClr val="tx1">
                  <a:lumMod val="49000"/>
                  <a:lumOff val="51000"/>
                </a:schemeClr>
              </a:solidFill>
              <a:ea typeface="Lato"/>
            </a:endParaRPr>
          </a:p>
          <a:p>
            <a:pPr algn="ctr">
              <a:lnSpc>
                <a:spcPct val="150000"/>
              </a:lnSpc>
            </a:pPr>
            <a:r>
              <a:rPr lang="en-US" sz="18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2025 - 2026</a:t>
            </a:r>
            <a:endParaRPr lang="en-US" sz="1800" i="1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pic>
        <p:nvPicPr>
          <p:cNvPr id="6" name="Picture 5" descr="A logo with text on it  AI-generated content may be incorrect.">
            <a:extLst>
              <a:ext uri="{FF2B5EF4-FFF2-40B4-BE49-F238E27FC236}">
                <a16:creationId xmlns:a16="http://schemas.microsoft.com/office/drawing/2014/main" id="{7A973DA9-C7E2-A6E8-583F-B812D1BA5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033" y="-129855"/>
            <a:ext cx="2560320" cy="2545080"/>
          </a:xfrm>
          <a:prstGeom prst="rect">
            <a:avLst/>
          </a:prstGeom>
        </p:spPr>
      </p:pic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45DA7958-92F1-0A82-8D1C-F2EFDBF477EB}"/>
              </a:ext>
            </a:extLst>
          </p:cNvPr>
          <p:cNvSpPr txBox="1"/>
          <p:nvPr/>
        </p:nvSpPr>
        <p:spPr>
          <a:xfrm>
            <a:off x="1212190" y="3040296"/>
            <a:ext cx="262983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Halet Louis</a:t>
            </a:r>
            <a:endParaRPr lang="fr-FR"/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Leroy Rodriguez Aïnhoa</a:t>
            </a:r>
            <a:endParaRPr 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Nicolas Jean-François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Rosman Loïs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Vanderheyden Quentin</a:t>
            </a:r>
            <a:endParaRPr lang="en-US">
              <a:solidFill>
                <a:schemeClr val="tx1"/>
              </a:solidFill>
              <a:ea typeface="Lato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chemeClr val="tx1"/>
                </a:solidFill>
                <a:ea typeface="Lato"/>
              </a:rPr>
              <a:t>Vatafu</a:t>
            </a:r>
            <a:r>
              <a:rPr lang="en-US" sz="1600">
                <a:solidFill>
                  <a:schemeClr val="tx1"/>
                </a:solidFill>
                <a:ea typeface="Lato"/>
              </a:rPr>
              <a:t> Jean 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Wellinger Chloé</a:t>
            </a: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42AFCE89-4FA1-AB63-14F8-E839C1FFF52B}"/>
              </a:ext>
            </a:extLst>
          </p:cNvPr>
          <p:cNvSpPr txBox="1"/>
          <p:nvPr/>
        </p:nvSpPr>
        <p:spPr>
          <a:xfrm>
            <a:off x="1212450" y="2405495"/>
            <a:ext cx="15492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Participants</a:t>
            </a:r>
            <a:endParaRPr lang="en-US" sz="2000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31FEEEDF-8FC0-C772-E5CC-294662BA856C}"/>
              </a:ext>
            </a:extLst>
          </p:cNvPr>
          <p:cNvSpPr txBox="1"/>
          <p:nvPr/>
        </p:nvSpPr>
        <p:spPr>
          <a:xfrm>
            <a:off x="4545146" y="2380646"/>
            <a:ext cx="27425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err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Professeurs</a:t>
            </a:r>
            <a:r>
              <a:rPr lang="en-US" sz="20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 </a:t>
            </a:r>
            <a:r>
              <a:rPr lang="en-US" sz="2000" i="1" err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concernés</a:t>
            </a:r>
            <a:r>
              <a:rPr lang="en-US" sz="2000" i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  </a:t>
            </a:r>
            <a:endParaRPr lang="en-US" sz="2000" i="1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BA742F4C-BCC7-5246-E2EE-AF8C0F294835}"/>
              </a:ext>
            </a:extLst>
          </p:cNvPr>
          <p:cNvSpPr txBox="1"/>
          <p:nvPr/>
        </p:nvSpPr>
        <p:spPr>
          <a:xfrm>
            <a:off x="4544885" y="3040295"/>
            <a:ext cx="194865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err="1">
                <a:solidFill>
                  <a:schemeClr val="tx1"/>
                </a:solidFill>
                <a:ea typeface="Lato"/>
              </a:rPr>
              <a:t>Burlion</a:t>
            </a:r>
            <a:r>
              <a:rPr lang="en-US" sz="1600">
                <a:solidFill>
                  <a:schemeClr val="tx1"/>
                </a:solidFill>
                <a:ea typeface="Lato"/>
              </a:rPr>
              <a:t> Benoit</a:t>
            </a:r>
            <a:endParaRPr lang="fr-FR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Dony Isabelle</a:t>
            </a:r>
            <a:endParaRPr 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Peeters </a:t>
            </a:r>
            <a:r>
              <a:rPr lang="en-US" sz="1600">
                <a:ea typeface="Lato"/>
              </a:rPr>
              <a:t>Cédric</a:t>
            </a:r>
          </a:p>
          <a:p>
            <a:pPr>
              <a:lnSpc>
                <a:spcPct val="150000"/>
              </a:lnSpc>
            </a:pPr>
            <a:r>
              <a:rPr lang="en-US" sz="1600">
                <a:ea typeface="Lato"/>
              </a:rPr>
              <a:t>Spies</a:t>
            </a:r>
            <a:r>
              <a:rPr lang="en-US" sz="1600"/>
              <a:t> Vincent</a:t>
            </a:r>
          </a:p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a typeface="Lato"/>
            </a:endParaRPr>
          </a:p>
        </p:txBody>
      </p:sp>
      <p:sp>
        <p:nvSpPr>
          <p:cNvPr id="8" name="Google Shape;87;p13">
            <a:extLst>
              <a:ext uri="{FF2B5EF4-FFF2-40B4-BE49-F238E27FC236}">
                <a16:creationId xmlns:a16="http://schemas.microsoft.com/office/drawing/2014/main" id="{278331D0-8FB5-D378-0821-A1C6BA7D7C80}"/>
              </a:ext>
            </a:extLst>
          </p:cNvPr>
          <p:cNvSpPr/>
          <p:nvPr/>
        </p:nvSpPr>
        <p:spPr>
          <a:xfrm flipV="1">
            <a:off x="1243838" y="2818098"/>
            <a:ext cx="691483" cy="40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Calibri"/>
            </a:endParaRPr>
          </a:p>
        </p:txBody>
      </p:sp>
      <p:sp>
        <p:nvSpPr>
          <p:cNvPr id="9" name="Google Shape;87;p13">
            <a:extLst>
              <a:ext uri="{FF2B5EF4-FFF2-40B4-BE49-F238E27FC236}">
                <a16:creationId xmlns:a16="http://schemas.microsoft.com/office/drawing/2014/main" id="{EF1D0B78-9EC9-3B4F-3502-4C9A05E6338B}"/>
              </a:ext>
            </a:extLst>
          </p:cNvPr>
          <p:cNvSpPr/>
          <p:nvPr/>
        </p:nvSpPr>
        <p:spPr>
          <a:xfrm flipV="1">
            <a:off x="4543403" y="2795412"/>
            <a:ext cx="691483" cy="40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Calibri"/>
            </a:endParaRPr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D0FF8A20-0167-1392-F7B5-47FE0588D855}"/>
              </a:ext>
            </a:extLst>
          </p:cNvPr>
          <p:cNvSpPr txBox="1"/>
          <p:nvPr/>
        </p:nvSpPr>
        <p:spPr>
          <a:xfrm>
            <a:off x="8164645" y="2406601"/>
            <a:ext cx="27425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u="sng" err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Personnes</a:t>
            </a:r>
            <a:r>
              <a:rPr lang="en-US" sz="2000" i="1" u="sng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 </a:t>
            </a:r>
            <a:r>
              <a:rPr lang="en-US" sz="2000" i="1" u="sng" err="1">
                <a:solidFill>
                  <a:schemeClr val="tx1">
                    <a:lumMod val="49000"/>
                    <a:lumOff val="51000"/>
                  </a:schemeClr>
                </a:solidFill>
                <a:ea typeface="Lato"/>
                <a:sym typeface="Lato"/>
              </a:rPr>
              <a:t>extérieures</a:t>
            </a:r>
            <a:endParaRPr lang="en-US" i="1" u="sng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EC6079CC-F205-AA57-05A1-2E4ADAE1B596}"/>
              </a:ext>
            </a:extLst>
          </p:cNvPr>
          <p:cNvSpPr txBox="1"/>
          <p:nvPr/>
        </p:nvSpPr>
        <p:spPr>
          <a:xfrm>
            <a:off x="8164386" y="3040296"/>
            <a:ext cx="194865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Lato"/>
              </a:rPr>
              <a:t>Hulin Isabelle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ea typeface="Open Sans"/>
              </a:rPr>
              <a:t>Manfredini Tiber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Google Shape;87;p13">
            <a:extLst>
              <a:ext uri="{FF2B5EF4-FFF2-40B4-BE49-F238E27FC236}">
                <a16:creationId xmlns:a16="http://schemas.microsoft.com/office/drawing/2014/main" id="{3920D975-9060-B59B-AA09-6416A989A6DD}"/>
              </a:ext>
            </a:extLst>
          </p:cNvPr>
          <p:cNvSpPr/>
          <p:nvPr/>
        </p:nvSpPr>
        <p:spPr>
          <a:xfrm flipV="1">
            <a:off x="8162902" y="2816118"/>
            <a:ext cx="691483" cy="408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Calibri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900C042-687F-E50E-A05D-E0CE4E4FE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239" y="4472553"/>
            <a:ext cx="1516427" cy="14508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16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3" y="12624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453" y="12624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3" y="22149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453" y="22149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3" y="31674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453" y="31674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3" y="4119967"/>
            <a:ext cx="5429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453" y="4119967"/>
            <a:ext cx="5429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!!sec1"/>
          <p:cNvSpPr txBox="1"/>
          <p:nvPr/>
        </p:nvSpPr>
        <p:spPr>
          <a:xfrm>
            <a:off x="1084670" y="1530862"/>
            <a:ext cx="44201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228600">
              <a:buAutoNum type="arabicPeriod"/>
            </a:pP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       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Contexte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&amp;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problématique</a:t>
            </a:r>
            <a:endParaRPr lang="en-US" sz="1800">
              <a:latin typeface="Poppins SemiBold"/>
              <a:cs typeface="Poppins SemiBold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083528" y="3449456"/>
            <a:ext cx="363840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     Cas </a:t>
            </a:r>
            <a:r>
              <a:rPr lang="en-US" sz="1800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d'utilisation</a:t>
            </a:r>
            <a:endParaRPr lang="en-US" sz="1800" err="1">
              <a:solidFill>
                <a:srgbClr val="5B3294"/>
              </a:solidFill>
              <a:latin typeface="Poppins SemiBold"/>
              <a:ea typeface="Poppins SemiBold"/>
              <a:cs typeface="Poppins SemiBold"/>
            </a:endParaRPr>
          </a:p>
          <a:p>
            <a:endParaRPr lang="en-US" sz="1800">
              <a:solidFill>
                <a:srgbClr val="5B3294"/>
              </a:solidFill>
              <a:latin typeface="Poppins SemiBold"/>
              <a:cs typeface="Poppins SemiBold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081408" y="2493306"/>
            <a:ext cx="43320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  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      </a:t>
            </a:r>
            <a:r>
              <a:rPr lang="en-US" sz="1800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Avantages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</a:t>
            </a:r>
            <a:r>
              <a:rPr lang="en-US" sz="1800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l'application</a:t>
            </a:r>
            <a:endParaRPr lang="en-US" sz="1800" err="1">
              <a:solidFill>
                <a:srgbClr val="5B3294"/>
              </a:solidFill>
              <a:latin typeface="Poppins SemiBold"/>
              <a:cs typeface="Poppins SemiBold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083528" y="4365338"/>
            <a:ext cx="49568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   </a:t>
            </a:r>
            <a:r>
              <a:rPr lang="en-US" sz="1800" b="0" i="0" u="none" strike="noStrike" cap="none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Conception technique</a:t>
            </a:r>
            <a:endParaRPr lang="fr-FR" sz="1800"/>
          </a:p>
        </p:txBody>
      </p:sp>
      <p:sp>
        <p:nvSpPr>
          <p:cNvPr id="114" name="Google Shape;114;p14"/>
          <p:cNvSpPr txBox="1"/>
          <p:nvPr/>
        </p:nvSpPr>
        <p:spPr>
          <a:xfrm>
            <a:off x="6755558" y="1528930"/>
            <a:ext cx="421634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      Architecture</a:t>
            </a:r>
            <a:r>
              <a:rPr lang="en-US" sz="1800" b="0" i="0" u="none" strike="noStrike" cap="none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</a:t>
            </a:r>
            <a:r>
              <a:rPr lang="en-US" sz="1800" b="0" i="0" u="none" strike="noStrike" cap="none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l'application</a:t>
            </a:r>
            <a:endParaRPr lang="en-US" sz="1800" err="1"/>
          </a:p>
        </p:txBody>
      </p:sp>
      <p:sp>
        <p:nvSpPr>
          <p:cNvPr id="115" name="Google Shape;115;p14"/>
          <p:cNvSpPr txBox="1"/>
          <p:nvPr/>
        </p:nvSpPr>
        <p:spPr>
          <a:xfrm>
            <a:off x="6758423" y="2491947"/>
            <a:ext cx="41548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7. 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       </a:t>
            </a:r>
            <a:r>
              <a:rPr lang="en-US" sz="1800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Fonctionnement</a:t>
            </a:r>
            <a:r>
              <a:rPr lang="en-US" sz="1800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du </a:t>
            </a:r>
            <a:r>
              <a:rPr lang="en-US" sz="1800" err="1">
                <a:solidFill>
                  <a:srgbClr val="5B329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groupe</a:t>
            </a:r>
            <a:endParaRPr lang="en-US" sz="1800" err="1">
              <a:solidFill>
                <a:srgbClr val="5B3294"/>
              </a:solidFill>
              <a:latin typeface="Poppins SemiBold"/>
              <a:cs typeface="Poppins SemiBol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755558" y="4361850"/>
            <a:ext cx="388929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cs typeface="Poppins SemiBold"/>
                <a:sym typeface="Poppins SemiBold"/>
              </a:rPr>
              <a:t>9.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       Conclusion</a:t>
            </a:r>
            <a:endParaRPr lang="en-US" sz="1800" err="1"/>
          </a:p>
        </p:txBody>
      </p:sp>
      <p:sp>
        <p:nvSpPr>
          <p:cNvPr id="117" name="Google Shape;117;p14"/>
          <p:cNvSpPr txBox="1"/>
          <p:nvPr/>
        </p:nvSpPr>
        <p:spPr>
          <a:xfrm>
            <a:off x="6758423" y="3449456"/>
            <a:ext cx="3886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cs typeface="Poppins SemiBold"/>
                <a:sym typeface="Poppins SemiBold"/>
              </a:rPr>
              <a:t>8.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     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Difficultés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rencontrées</a:t>
            </a:r>
            <a:endParaRPr lang="en-US" sz="1800">
              <a:solidFill>
                <a:srgbClr val="5B3294"/>
              </a:solidFill>
              <a:latin typeface="Poppins SemiBold"/>
              <a:cs typeface="Poppins SemiBold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Table des matières</a:t>
            </a:r>
            <a:endParaRPr lang="en-US" sz="3200" u="sng"/>
          </a:p>
        </p:txBody>
      </p:sp>
      <p:sp>
        <p:nvSpPr>
          <p:cNvPr id="119" name="Google Shape;119;p14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01;p14" descr="image.png">
            <a:extLst>
              <a:ext uri="{FF2B5EF4-FFF2-40B4-BE49-F238E27FC236}">
                <a16:creationId xmlns:a16="http://schemas.microsoft.com/office/drawing/2014/main" id="{A754493D-DC6F-55F8-3634-BFEA3188CC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944" y="5075696"/>
            <a:ext cx="5429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16;p14">
            <a:extLst>
              <a:ext uri="{FF2B5EF4-FFF2-40B4-BE49-F238E27FC236}">
                <a16:creationId xmlns:a16="http://schemas.microsoft.com/office/drawing/2014/main" id="{963401A1-FA86-569D-5809-879C85BE7453}"/>
              </a:ext>
            </a:extLst>
          </p:cNvPr>
          <p:cNvSpPr txBox="1"/>
          <p:nvPr/>
        </p:nvSpPr>
        <p:spPr>
          <a:xfrm>
            <a:off x="1079303" y="5317578"/>
            <a:ext cx="36439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cs typeface="Poppins SemiBold"/>
                <a:sym typeface="Poppins SemiBold"/>
              </a:rPr>
              <a:t>5.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     Pile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technologique</a:t>
            </a:r>
            <a:endParaRPr lang="en-US" sz="1800" err="1"/>
          </a:p>
        </p:txBody>
      </p:sp>
      <p:pic>
        <p:nvPicPr>
          <p:cNvPr id="15" name="Google Shape;101;p14" descr="image.png">
            <a:extLst>
              <a:ext uri="{FF2B5EF4-FFF2-40B4-BE49-F238E27FC236}">
                <a16:creationId xmlns:a16="http://schemas.microsoft.com/office/drawing/2014/main" id="{BCB53C04-ADCC-56A8-6183-D19F3808E1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451" y="5075693"/>
            <a:ext cx="5429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16;p14">
            <a:extLst>
              <a:ext uri="{FF2B5EF4-FFF2-40B4-BE49-F238E27FC236}">
                <a16:creationId xmlns:a16="http://schemas.microsoft.com/office/drawing/2014/main" id="{0B237A6E-CB91-1E69-AD09-A3716E2C2331}"/>
              </a:ext>
            </a:extLst>
          </p:cNvPr>
          <p:cNvSpPr txBox="1"/>
          <p:nvPr/>
        </p:nvSpPr>
        <p:spPr>
          <a:xfrm>
            <a:off x="6755556" y="5317577"/>
            <a:ext cx="38570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Poppins SemiBold"/>
                <a:cs typeface="Poppins SemiBold"/>
                <a:sym typeface="Poppins SemiBold"/>
              </a:rPr>
              <a:t>10.</a:t>
            </a:r>
            <a:r>
              <a:rPr lang="en-US" sz="1800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      </a:t>
            </a:r>
            <a:r>
              <a:rPr lang="en-US" sz="1800" err="1">
                <a:solidFill>
                  <a:srgbClr val="5B3294"/>
                </a:solidFill>
                <a:latin typeface="Poppins SemiBold"/>
                <a:cs typeface="Poppins SemiBold"/>
                <a:sym typeface="Poppins SemiBold"/>
              </a:rPr>
              <a:t>Démonstration</a:t>
            </a:r>
            <a:endParaRPr lang="en-US" sz="1800" err="1"/>
          </a:p>
        </p:txBody>
      </p:sp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457DFB09-7356-B961-C72A-502833CB5FA7}"/>
              </a:ext>
            </a:extLst>
          </p:cNvPr>
          <p:cNvSpPr/>
          <p:nvPr/>
        </p:nvSpPr>
        <p:spPr>
          <a:xfrm>
            <a:off x="8313913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2C535-FF99-BD0D-49F4-00F29D82E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-904932" y="4515052"/>
            <a:ext cx="1225973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2286000" indent="457200">
              <a:lnSpc>
                <a:spcPct val="150000"/>
              </a:lnSpc>
            </a:pPr>
            <a:r>
              <a:rPr lang="en-US" sz="2400" b="1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Besoin</a:t>
            </a:r>
            <a:r>
              <a:rPr lang="en-US" sz="2400" b="1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:</a:t>
            </a:r>
            <a:r>
              <a:rPr lang="en-US" sz="24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24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Automatiser</a:t>
            </a:r>
            <a:r>
              <a:rPr lang="en-US" sz="24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, </a:t>
            </a:r>
            <a:r>
              <a:rPr lang="en-US" sz="24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centraliser</a:t>
            </a:r>
            <a:r>
              <a:rPr lang="en-US" sz="24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et </a:t>
            </a:r>
            <a:r>
              <a:rPr lang="en-US" sz="24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fiabiliser</a:t>
            </a:r>
            <a:r>
              <a:rPr lang="en-US" sz="24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la planification</a:t>
            </a:r>
            <a:endParaRPr lang="fr-FR" sz="2400">
              <a:latin typeface="Poppins"/>
              <a:cs typeface="Poppins"/>
            </a:endParaRPr>
          </a:p>
        </p:txBody>
      </p:sp>
      <p:sp>
        <p:nvSpPr>
          <p:cNvPr id="142" name="!!sec1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lang="en-US" sz="3200" b="1" i="0" u="sng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Contexte</a:t>
            </a:r>
            <a:r>
              <a:rPr lang="en-US" sz="3200" b="1" i="0" u="sng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problématique</a:t>
            </a:r>
            <a:endParaRPr lang="en-US" sz="3200" u="sng"/>
          </a:p>
        </p:txBody>
      </p:sp>
      <p:sp>
        <p:nvSpPr>
          <p:cNvPr id="143" name="Google Shape;143;p1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B48A23-D86A-624B-62FE-22210E117D1F}"/>
              </a:ext>
            </a:extLst>
          </p:cNvPr>
          <p:cNvSpPr/>
          <p:nvPr/>
        </p:nvSpPr>
        <p:spPr>
          <a:xfrm>
            <a:off x="512869" y="2209767"/>
            <a:ext cx="3351953" cy="210820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Google Shape;129;p15"/>
          <p:cNvSpPr txBox="1"/>
          <p:nvPr/>
        </p:nvSpPr>
        <p:spPr>
          <a:xfrm>
            <a:off x="819150" y="2522293"/>
            <a:ext cx="27368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5B3294"/>
                </a:solidFill>
                <a:latin typeface="Poppins"/>
                <a:ea typeface="Lato"/>
                <a:cs typeface="Poppins"/>
                <a:sym typeface="Lato"/>
              </a:rPr>
              <a:t>Centre </a:t>
            </a:r>
            <a:r>
              <a:rPr lang="en-US" sz="2000" b="1" i="0" u="none" strike="noStrike" cap="none" err="1">
                <a:solidFill>
                  <a:srgbClr val="5B3294"/>
                </a:solidFill>
                <a:latin typeface="Poppins"/>
                <a:ea typeface="Lato"/>
                <a:cs typeface="Poppins"/>
                <a:sym typeface="Lato"/>
              </a:rPr>
              <a:t>Comprendre</a:t>
            </a:r>
            <a:r>
              <a:rPr lang="en-US" sz="2000" b="1" i="0" u="none" strike="noStrike" cap="none">
                <a:solidFill>
                  <a:srgbClr val="5B3294"/>
                </a:solidFill>
                <a:latin typeface="Poppins"/>
                <a:ea typeface="Lato"/>
                <a:cs typeface="Poppins"/>
                <a:sym typeface="Lato"/>
              </a:rPr>
              <a:t> &amp; Parler</a:t>
            </a:r>
            <a:endParaRPr lang="en-US" sz="2000">
              <a:latin typeface="Poppins"/>
              <a:cs typeface="Poppins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19150" y="3190948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25 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interprètes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19150" y="3530038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500h / 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semaine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7438BE-6E81-0B37-91BB-B591FB032FD5}"/>
              </a:ext>
            </a:extLst>
          </p:cNvPr>
          <p:cNvSpPr/>
          <p:nvPr/>
        </p:nvSpPr>
        <p:spPr>
          <a:xfrm>
            <a:off x="4410921" y="2214001"/>
            <a:ext cx="3343486" cy="2108200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Google Shape;133;p15"/>
          <p:cNvSpPr txBox="1"/>
          <p:nvPr/>
        </p:nvSpPr>
        <p:spPr>
          <a:xfrm>
            <a:off x="4718000" y="2660406"/>
            <a:ext cx="2736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5B3294"/>
                </a:solidFill>
                <a:latin typeface="Poppins"/>
                <a:ea typeface="Lato"/>
                <a:cs typeface="Poppins"/>
                <a:sym typeface="Lato"/>
              </a:rPr>
              <a:t>Excel &amp; Teams</a:t>
            </a:r>
            <a:endParaRPr lang="en-US" sz="1600">
              <a:latin typeface="Poppins"/>
              <a:cs typeface="Poppins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4709533" y="3187456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Gestion 100% 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manuelle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4548092" y="3532688"/>
            <a:ext cx="305968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Complexité</a:t>
            </a: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d'assignation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EAB5B-7431-44CB-FC09-3BC6DB2EA5C3}"/>
              </a:ext>
            </a:extLst>
          </p:cNvPr>
          <p:cNvSpPr/>
          <p:nvPr/>
        </p:nvSpPr>
        <p:spPr>
          <a:xfrm>
            <a:off x="8369087" y="2214000"/>
            <a:ext cx="3343486" cy="21082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Google Shape;137;p15"/>
          <p:cNvSpPr txBox="1"/>
          <p:nvPr/>
        </p:nvSpPr>
        <p:spPr>
          <a:xfrm>
            <a:off x="8616850" y="2460381"/>
            <a:ext cx="2736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Poppins"/>
                <a:ea typeface="Lato"/>
                <a:cs typeface="Poppins"/>
                <a:sym typeface="Lato"/>
              </a:rPr>
              <a:t>"</a:t>
            </a:r>
            <a:r>
              <a:rPr lang="en-US" sz="2000" b="1" i="0" u="none" strike="noStrike" cap="none" err="1">
                <a:solidFill>
                  <a:srgbClr val="C00000"/>
                </a:solidFill>
                <a:latin typeface="Poppins"/>
                <a:ea typeface="Lato"/>
                <a:cs typeface="Poppins"/>
                <a:sym typeface="Lato"/>
              </a:rPr>
              <a:t>Effet</a:t>
            </a:r>
            <a:r>
              <a:rPr lang="en-US" sz="2000" b="1" i="0" u="none" strike="noStrike" cap="none">
                <a:solidFill>
                  <a:srgbClr val="C00000"/>
                </a:solidFill>
                <a:latin typeface="Poppins"/>
                <a:ea typeface="Lato"/>
                <a:cs typeface="Poppins"/>
                <a:sym typeface="Lato"/>
              </a:rPr>
              <a:t> Domino"</a:t>
            </a:r>
            <a:endParaRPr lang="en-US" sz="2000">
              <a:solidFill>
                <a:srgbClr val="C00000"/>
              </a:solidFill>
              <a:latin typeface="Poppins"/>
              <a:cs typeface="Poppins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8616850" y="3012831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60 modifications/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sem</a:t>
            </a:r>
            <a:endParaRPr lang="en-US" sz="1800" err="1">
              <a:latin typeface="Poppins"/>
              <a:cs typeface="Poppins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616850" y="3319748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Erreurs</a:t>
            </a:r>
            <a:r>
              <a:rPr lang="en-US" sz="1800" b="0" i="0" u="none" strike="noStrike" cap="none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800" b="0" i="0" u="none" strike="noStrike" cap="none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fréquentes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8" name="Google Shape;139;p15">
            <a:extLst>
              <a:ext uri="{FF2B5EF4-FFF2-40B4-BE49-F238E27FC236}">
                <a16:creationId xmlns:a16="http://schemas.microsoft.com/office/drawing/2014/main" id="{D59BE4C1-4F9B-BD6E-F629-83B2FF53A523}"/>
              </a:ext>
            </a:extLst>
          </p:cNvPr>
          <p:cNvSpPr txBox="1"/>
          <p:nvPr/>
        </p:nvSpPr>
        <p:spPr>
          <a:xfrm>
            <a:off x="8677810" y="3649101"/>
            <a:ext cx="2736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Déplacements</a:t>
            </a:r>
            <a:r>
              <a:rPr lang="en-US" sz="1800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r>
              <a:rPr lang="en-US" sz="1800" err="1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inutiles</a:t>
            </a:r>
            <a:r>
              <a:rPr lang="en-US" sz="1800">
                <a:solidFill>
                  <a:srgbClr val="2D3748"/>
                </a:solidFill>
                <a:latin typeface="Poppins"/>
                <a:ea typeface="Lato"/>
                <a:cs typeface="Poppins"/>
                <a:sym typeface="Lato"/>
              </a:rPr>
              <a:t> 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3475864-F3D9-B512-CDBF-8FB9B87915F1}"/>
              </a:ext>
            </a:extLst>
          </p:cNvPr>
          <p:cNvSpPr/>
          <p:nvPr/>
        </p:nvSpPr>
        <p:spPr>
          <a:xfrm>
            <a:off x="3976897" y="3026457"/>
            <a:ext cx="352973" cy="334892"/>
          </a:xfrm>
          <a:prstGeom prst="rightArrow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3089A52-8FDC-1AC9-C7C1-8E3474F984AE}"/>
              </a:ext>
            </a:extLst>
          </p:cNvPr>
          <p:cNvSpPr/>
          <p:nvPr/>
        </p:nvSpPr>
        <p:spPr>
          <a:xfrm>
            <a:off x="7898226" y="3103949"/>
            <a:ext cx="346516" cy="328434"/>
          </a:xfrm>
          <a:prstGeom prst="right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red triangle with a exclamation mark  AI-generated content may be incorrect.">
            <a:extLst>
              <a:ext uri="{FF2B5EF4-FFF2-40B4-BE49-F238E27FC236}">
                <a16:creationId xmlns:a16="http://schemas.microsoft.com/office/drawing/2014/main" id="{25B9DD7A-2A07-2BC3-2F5E-A6D76BADB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01" y="2521621"/>
            <a:ext cx="479155" cy="44560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82A2B47-B812-F402-5218-9109DFD3F4C7}"/>
              </a:ext>
            </a:extLst>
          </p:cNvPr>
          <p:cNvSpPr/>
          <p:nvPr/>
        </p:nvSpPr>
        <p:spPr>
          <a:xfrm>
            <a:off x="1197573" y="4691608"/>
            <a:ext cx="588651" cy="378623"/>
          </a:xfrm>
          <a:prstGeom prst="rightArrow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04C45CAD-091A-5890-08C7-B1C0A2A1932D}"/>
              </a:ext>
            </a:extLst>
          </p:cNvPr>
          <p:cNvSpPr/>
          <p:nvPr/>
        </p:nvSpPr>
        <p:spPr>
          <a:xfrm>
            <a:off x="83145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529451-FF96-89B5-81A6-2F465EBD7E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C28BA41D-5DD3-DD32-3A06-6708B926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>
            <a:extLst>
              <a:ext uri="{FF2B5EF4-FFF2-40B4-BE49-F238E27FC236}">
                <a16:creationId xmlns:a16="http://schemas.microsoft.com/office/drawing/2014/main" id="{92F43CA6-C48F-1FEB-6AD9-F6B425E7E2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522AB6-B926-2DB1-C326-D8BE62614119}"/>
              </a:ext>
            </a:extLst>
          </p:cNvPr>
          <p:cNvSpPr/>
          <p:nvPr/>
        </p:nvSpPr>
        <p:spPr>
          <a:xfrm>
            <a:off x="1472472" y="4039394"/>
            <a:ext cx="9069843" cy="25043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!!sec1">
            <a:extLst>
              <a:ext uri="{FF2B5EF4-FFF2-40B4-BE49-F238E27FC236}">
                <a16:creationId xmlns:a16="http://schemas.microsoft.com/office/drawing/2014/main" id="{588D7BDA-99A2-BC31-EF58-7CBF98185552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lang="en-US" sz="3200" b="1" i="0" u="sng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Contexte</a:t>
            </a:r>
            <a:r>
              <a:rPr lang="en-US" sz="3200" b="1" i="0" u="sng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problématique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Vocabulaire</a:t>
            </a:r>
            <a:endParaRPr lang="en-US" sz="3200" u="sng" err="1"/>
          </a:p>
        </p:txBody>
      </p:sp>
      <p:sp>
        <p:nvSpPr>
          <p:cNvPr id="143" name="Google Shape;143;p15">
            <a:extLst>
              <a:ext uri="{FF2B5EF4-FFF2-40B4-BE49-F238E27FC236}">
                <a16:creationId xmlns:a16="http://schemas.microsoft.com/office/drawing/2014/main" id="{4E95519B-6193-A1BF-2EAC-A6AEC412C8E4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E579B7-1934-C003-680B-E0AB7F1B0285}"/>
              </a:ext>
            </a:extLst>
          </p:cNvPr>
          <p:cNvSpPr/>
          <p:nvPr/>
        </p:nvSpPr>
        <p:spPr>
          <a:xfrm>
            <a:off x="1477118" y="1270174"/>
            <a:ext cx="4284111" cy="25136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EFE441DD-292C-7919-0D1D-D0389DABE6A6}"/>
              </a:ext>
            </a:extLst>
          </p:cNvPr>
          <p:cNvSpPr/>
          <p:nvPr/>
        </p:nvSpPr>
        <p:spPr>
          <a:xfrm>
            <a:off x="83145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4D4A8-94BF-36F1-9D91-E4B1469AC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90493C-45F2-7AFA-4E57-F243B88B1460}"/>
              </a:ext>
            </a:extLst>
          </p:cNvPr>
          <p:cNvSpPr/>
          <p:nvPr/>
        </p:nvSpPr>
        <p:spPr>
          <a:xfrm>
            <a:off x="6244264" y="1270173"/>
            <a:ext cx="4293404" cy="25183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29BFA8DC-28AD-579A-75C7-66A96BBEB352}"/>
              </a:ext>
            </a:extLst>
          </p:cNvPr>
          <p:cNvSpPr/>
          <p:nvPr/>
        </p:nvSpPr>
        <p:spPr>
          <a:xfrm>
            <a:off x="1476338" y="1263528"/>
            <a:ext cx="4289421" cy="729111"/>
          </a:xfrm>
          <a:prstGeom prst="round2Same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err="1">
                <a:latin typeface="Poppins"/>
                <a:cs typeface="Poppins"/>
              </a:rPr>
              <a:t>Rôles</a:t>
            </a:r>
            <a:endParaRPr lang="en-US" sz="2400" b="1">
              <a:latin typeface="Poppins"/>
              <a:cs typeface="Poppins"/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AB57F74-5772-A853-1DA8-FFC3738D82AC}"/>
              </a:ext>
            </a:extLst>
          </p:cNvPr>
          <p:cNvSpPr/>
          <p:nvPr/>
        </p:nvSpPr>
        <p:spPr>
          <a:xfrm>
            <a:off x="6243484" y="1240295"/>
            <a:ext cx="4298714" cy="752343"/>
          </a:xfrm>
          <a:prstGeom prst="round2Same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err="1">
                <a:latin typeface="Poppins"/>
                <a:cs typeface="Poppins"/>
              </a:rPr>
              <a:t>Compétences</a:t>
            </a:r>
            <a:endParaRPr lang="en-US" sz="2400" b="1">
              <a:latin typeface="Poppins"/>
              <a:cs typeface="Poppins"/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10E3EAE-5F89-4135-DACA-F2E67697F66F}"/>
              </a:ext>
            </a:extLst>
          </p:cNvPr>
          <p:cNvSpPr/>
          <p:nvPr/>
        </p:nvSpPr>
        <p:spPr>
          <a:xfrm>
            <a:off x="1476337" y="4037393"/>
            <a:ext cx="9061213" cy="705880"/>
          </a:xfrm>
          <a:prstGeom prst="round2Same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err="1">
                <a:latin typeface="Poppins"/>
                <a:cs typeface="Poppins"/>
              </a:rPr>
              <a:t>Horaires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E17E8-115D-EFC6-051C-19DAC6D4F510}"/>
              </a:ext>
            </a:extLst>
          </p:cNvPr>
          <p:cNvSpPr txBox="1"/>
          <p:nvPr/>
        </p:nvSpPr>
        <p:spPr>
          <a:xfrm>
            <a:off x="1476434" y="2290646"/>
            <a:ext cx="244027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2000">
                <a:latin typeface="Poppins"/>
                <a:cs typeface="Poppins"/>
              </a:rPr>
              <a:t> </a:t>
            </a:r>
            <a:r>
              <a:rPr lang="en-US" sz="2000" err="1">
                <a:latin typeface="Poppins"/>
                <a:cs typeface="Poppins"/>
              </a:rPr>
              <a:t>Résa</a:t>
            </a:r>
            <a:endParaRPr lang="en-US" sz="2000">
              <a:latin typeface="Poppins"/>
              <a:cs typeface="Poppins"/>
            </a:endParaRPr>
          </a:p>
          <a:p>
            <a:pPr marL="285750" indent="-285750">
              <a:buFont typeface="Calibri,Sans-Serif"/>
              <a:buChar char="-"/>
            </a:pPr>
            <a:endParaRPr lang="en-US" sz="2000">
              <a:latin typeface="Poppins"/>
              <a:cs typeface="Poppins"/>
            </a:endParaRPr>
          </a:p>
          <a:p>
            <a:pPr marL="285750" lvl="0" indent="-285750">
              <a:buFont typeface="Calibri,Sans-Serif"/>
              <a:buChar char="-"/>
            </a:pPr>
            <a:r>
              <a:rPr lang="en-US" sz="2000" err="1">
                <a:latin typeface="Poppins"/>
              </a:rPr>
              <a:t>Coordinatrice</a:t>
            </a:r>
            <a:r>
              <a:rPr lang="en-US" sz="2000">
                <a:latin typeface="Poppins"/>
                <a:ea typeface="Arial"/>
                <a:cs typeface="Arial"/>
              </a:rPr>
              <a:t>​</a:t>
            </a:r>
            <a:endParaRPr lang="en-US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B14C9-2322-06D8-B5A8-6BA90847387A}"/>
              </a:ext>
            </a:extLst>
          </p:cNvPr>
          <p:cNvSpPr txBox="1"/>
          <p:nvPr/>
        </p:nvSpPr>
        <p:spPr>
          <a:xfrm>
            <a:off x="3696992" y="2290646"/>
            <a:ext cx="2136765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Calibri,Sans-Serif"/>
              <a:buChar char="-"/>
            </a:pPr>
            <a:r>
              <a:rPr lang="en-US" sz="2000" err="1">
                <a:latin typeface="Poppins"/>
              </a:rPr>
              <a:t>Interprète</a:t>
            </a:r>
            <a:r>
              <a:rPr lang="en-US" sz="2000">
                <a:latin typeface="Poppins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Calibri,Sans-Serif"/>
              <a:buChar char="-"/>
            </a:pPr>
            <a:endParaRPr lang="en-US" sz="1800">
              <a:latin typeface="Arial"/>
              <a:ea typeface="Arial"/>
              <a:cs typeface="Arial"/>
            </a:endParaRPr>
          </a:p>
          <a:p>
            <a:pPr marL="285750" lvl="0" indent="-285750" rtl="0">
              <a:buFont typeface="Calibri,Sans-Serif"/>
              <a:buChar char="-"/>
            </a:pPr>
            <a:r>
              <a:rPr lang="en-US" sz="2000" baseline="0" err="1">
                <a:solidFill>
                  <a:srgbClr val="000000"/>
                </a:solidFill>
                <a:latin typeface="Poppins"/>
                <a:ea typeface="Arial"/>
                <a:cs typeface="Arial"/>
              </a:rPr>
              <a:t>Bénéficiaire</a:t>
            </a:r>
            <a:endParaRPr lang="en-US" sz="2000" baseline="0">
              <a:solidFill>
                <a:srgbClr val="000000"/>
              </a:solidFill>
              <a:latin typeface="Poppins"/>
              <a:ea typeface="Arial"/>
              <a:cs typeface="Arial"/>
            </a:endParaRPr>
          </a:p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151333-5C6C-3CA9-7BE2-2BDE60F9E1E9}"/>
              </a:ext>
            </a:extLst>
          </p:cNvPr>
          <p:cNvSpPr txBox="1"/>
          <p:nvPr/>
        </p:nvSpPr>
        <p:spPr>
          <a:xfrm>
            <a:off x="6463061" y="2287010"/>
            <a:ext cx="383787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>
                <a:latin typeface="Poppins"/>
              </a:rPr>
              <a:t>Académique</a:t>
            </a:r>
          </a:p>
          <a:p>
            <a:pPr marL="285750" indent="-285750">
              <a:buFont typeface="Calibri"/>
              <a:buChar char="-"/>
            </a:pPr>
            <a:endParaRPr lang="en-US" sz="2000">
              <a:latin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err="1">
                <a:latin typeface="Poppins"/>
              </a:rPr>
              <a:t>Professionnelle</a:t>
            </a:r>
            <a:endParaRPr lang="en-US" sz="2000">
              <a:latin typeface="Poppi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6BD988-B50D-5D3E-965D-2E9CE77E418E}"/>
              </a:ext>
            </a:extLst>
          </p:cNvPr>
          <p:cNvSpPr txBox="1"/>
          <p:nvPr/>
        </p:nvSpPr>
        <p:spPr>
          <a:xfrm>
            <a:off x="6460031" y="4958656"/>
            <a:ext cx="257407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 sz="2000" err="1">
                <a:latin typeface="Poppins"/>
              </a:rPr>
              <a:t>Indisponibilités</a:t>
            </a:r>
            <a:endParaRPr lang="en-US" sz="2000">
              <a:latin typeface="Poppins"/>
              <a:ea typeface="Arial"/>
              <a:cs typeface="Arial"/>
            </a:endParaRPr>
          </a:p>
          <a:p>
            <a:pPr lvl="0" rtl="0"/>
            <a:endParaRPr lang="en-US" sz="1600">
              <a:latin typeface="Arial"/>
              <a:ea typeface="Arial"/>
              <a:cs typeface="Arial"/>
            </a:endParaRPr>
          </a:p>
          <a:p>
            <a:pPr marL="285750" lvl="0" indent="-285750" rtl="0">
              <a:buFont typeface="Calibri,Sans-Serif"/>
              <a:buChar char="-"/>
            </a:pPr>
            <a:r>
              <a:rPr lang="en-US" sz="2000">
                <a:latin typeface="Poppins"/>
              </a:rPr>
              <a:t>Rendez-vous</a:t>
            </a:r>
            <a:endParaRPr lang="en-US" sz="2000">
              <a:latin typeface="Poppins"/>
              <a:ea typeface="Arial"/>
              <a:cs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280F26-D8A1-D4F3-B09A-4A78882F5EEC}"/>
              </a:ext>
            </a:extLst>
          </p:cNvPr>
          <p:cNvSpPr txBox="1"/>
          <p:nvPr/>
        </p:nvSpPr>
        <p:spPr>
          <a:xfrm>
            <a:off x="2700130" y="4961282"/>
            <a:ext cx="2708414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buFont typeface="Calibri,Sans-Serif"/>
              <a:buChar char="-"/>
            </a:pPr>
            <a:r>
              <a:rPr lang="en-US" sz="2000" err="1">
                <a:latin typeface="Poppins"/>
              </a:rPr>
              <a:t>Horaires</a:t>
            </a:r>
            <a:r>
              <a:rPr lang="en-US" sz="2000" b="0" i="0">
                <a:solidFill>
                  <a:srgbClr val="000000"/>
                </a:solidFill>
                <a:latin typeface="Poppin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Calibri,Sans-Serif"/>
              <a:buChar char="-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 algn="l" rtl="0">
              <a:buFont typeface="Calibri,Sans-Serif"/>
              <a:buChar char="-"/>
            </a:pPr>
            <a:r>
              <a:rPr lang="en-US" sz="2000" err="1">
                <a:latin typeface="Poppins"/>
              </a:rPr>
              <a:t>Horaires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Poppins"/>
                <a:ea typeface="Arial"/>
                <a:cs typeface="Arial"/>
              </a:rPr>
              <a:t> de base</a:t>
            </a:r>
            <a:r>
              <a:rPr lang="en-US" sz="2000" b="0" i="0">
                <a:solidFill>
                  <a:srgbClr val="000000"/>
                </a:solidFill>
                <a:latin typeface="Poppins"/>
                <a:ea typeface="Arial"/>
                <a:cs typeface="Arial"/>
              </a:rPr>
              <a:t>​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76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64;p17" descr="image.png">
            <a:extLst>
              <a:ext uri="{FF2B5EF4-FFF2-40B4-BE49-F238E27FC236}">
                <a16:creationId xmlns:a16="http://schemas.microsoft.com/office/drawing/2014/main" id="{A50D0102-0F9C-26D3-C8C3-CD5DD7445A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006" y="1521038"/>
            <a:ext cx="3600752" cy="4772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440" y="1523312"/>
            <a:ext cx="3500527" cy="2291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0277" y="1522554"/>
            <a:ext cx="3492549" cy="47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3200" b="1" i="0" u="sng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Avantages</a:t>
            </a:r>
            <a:r>
              <a:rPr lang="en-US" sz="3200" b="1" i="0" u="sng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de 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l'application</a:t>
            </a:r>
            <a:endParaRPr lang="en-US" sz="3200" u="sng" err="1"/>
          </a:p>
        </p:txBody>
      </p:sp>
      <p:sp>
        <p:nvSpPr>
          <p:cNvPr id="159" name="Google Shape;159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2;p16">
            <a:extLst>
              <a:ext uri="{FF2B5EF4-FFF2-40B4-BE49-F238E27FC236}">
                <a16:creationId xmlns:a16="http://schemas.microsoft.com/office/drawing/2014/main" id="{3A60BDE8-8559-7B8D-8387-FE722E0C8FE1}"/>
              </a:ext>
            </a:extLst>
          </p:cNvPr>
          <p:cNvSpPr txBox="1"/>
          <p:nvPr/>
        </p:nvSpPr>
        <p:spPr>
          <a:xfrm>
            <a:off x="896587" y="1716127"/>
            <a:ext cx="31938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err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Centralisation</a:t>
            </a:r>
            <a:endParaRPr lang="en-US" sz="2400" b="1">
              <a:solidFill>
                <a:srgbClr val="7030A0"/>
              </a:solidFill>
              <a:latin typeface="Poppins"/>
              <a:cs typeface="Poppins"/>
            </a:endParaRPr>
          </a:p>
        </p:txBody>
      </p:sp>
      <p:sp>
        <p:nvSpPr>
          <p:cNvPr id="3" name="Google Shape;152;p16">
            <a:extLst>
              <a:ext uri="{FF2B5EF4-FFF2-40B4-BE49-F238E27FC236}">
                <a16:creationId xmlns:a16="http://schemas.microsoft.com/office/drawing/2014/main" id="{53E828E6-C6CF-13CB-FBCF-8E245308196D}"/>
              </a:ext>
            </a:extLst>
          </p:cNvPr>
          <p:cNvSpPr txBox="1"/>
          <p:nvPr/>
        </p:nvSpPr>
        <p:spPr>
          <a:xfrm>
            <a:off x="4606849" y="1773854"/>
            <a:ext cx="29828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err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Réduire</a:t>
            </a:r>
            <a:r>
              <a:rPr lang="en-US" sz="2400" b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 les </a:t>
            </a:r>
            <a:r>
              <a:rPr lang="en-US" sz="2400" b="1" err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erreurs</a:t>
            </a:r>
            <a:endParaRPr lang="en-US" sz="2400" b="1">
              <a:solidFill>
                <a:srgbClr val="7030A0"/>
              </a:solidFill>
              <a:latin typeface="Poppins SemiBold"/>
              <a:cs typeface="Poppins SemiBold"/>
            </a:endParaRPr>
          </a:p>
        </p:txBody>
      </p:sp>
      <p:sp>
        <p:nvSpPr>
          <p:cNvPr id="4" name="Google Shape;152;p16">
            <a:extLst>
              <a:ext uri="{FF2B5EF4-FFF2-40B4-BE49-F238E27FC236}">
                <a16:creationId xmlns:a16="http://schemas.microsoft.com/office/drawing/2014/main" id="{2F5031E2-7347-5A57-BE60-CB4433616F98}"/>
              </a:ext>
            </a:extLst>
          </p:cNvPr>
          <p:cNvSpPr txBox="1"/>
          <p:nvPr/>
        </p:nvSpPr>
        <p:spPr>
          <a:xfrm>
            <a:off x="8181467" y="1773854"/>
            <a:ext cx="32541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err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Automatisation</a:t>
            </a:r>
            <a:endParaRPr lang="en-US" sz="2400"/>
          </a:p>
        </p:txBody>
      </p:sp>
      <p:sp>
        <p:nvSpPr>
          <p:cNvPr id="6" name="Google Shape;152;p16">
            <a:extLst>
              <a:ext uri="{FF2B5EF4-FFF2-40B4-BE49-F238E27FC236}">
                <a16:creationId xmlns:a16="http://schemas.microsoft.com/office/drawing/2014/main" id="{08BF5FB8-9903-43D9-0EE9-0126F240E628}"/>
              </a:ext>
            </a:extLst>
          </p:cNvPr>
          <p:cNvSpPr txBox="1"/>
          <p:nvPr/>
        </p:nvSpPr>
        <p:spPr>
          <a:xfrm>
            <a:off x="760943" y="2510839"/>
            <a:ext cx="332660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Plannings</a:t>
            </a:r>
          </a:p>
          <a:p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chemeClr val="tx1"/>
                </a:solidFill>
                <a:latin typeface="Poppins"/>
                <a:cs typeface="Poppins"/>
              </a:rPr>
              <a:t>Modification</a:t>
            </a: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 </a:t>
            </a:r>
            <a:r>
              <a:rPr lang="en-US" sz="2000">
                <a:solidFill>
                  <a:schemeClr val="tx1"/>
                </a:solidFill>
                <a:latin typeface="Poppins"/>
                <a:cs typeface="Poppins"/>
              </a:rPr>
              <a:t>-&gt;</a:t>
            </a: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Ajustements</a:t>
            </a: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 </a:t>
            </a: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manuels</a:t>
            </a: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 </a:t>
            </a:r>
          </a:p>
        </p:txBody>
      </p:sp>
      <p:sp>
        <p:nvSpPr>
          <p:cNvPr id="7" name="Google Shape;152;p16">
            <a:extLst>
              <a:ext uri="{FF2B5EF4-FFF2-40B4-BE49-F238E27FC236}">
                <a16:creationId xmlns:a16="http://schemas.microsoft.com/office/drawing/2014/main" id="{D681515B-58E5-C2C1-95E0-A9E008B0B308}"/>
              </a:ext>
            </a:extLst>
          </p:cNvPr>
          <p:cNvSpPr txBox="1"/>
          <p:nvPr/>
        </p:nvSpPr>
        <p:spPr>
          <a:xfrm>
            <a:off x="4535037" y="2392305"/>
            <a:ext cx="308107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Erreurs</a:t>
            </a: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humaines</a:t>
            </a:r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Répartition</a:t>
            </a:r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8" name="Google Shape;152;p16">
            <a:extLst>
              <a:ext uri="{FF2B5EF4-FFF2-40B4-BE49-F238E27FC236}">
                <a16:creationId xmlns:a16="http://schemas.microsoft.com/office/drawing/2014/main" id="{3455D4EE-44E1-ACD1-7005-FDD83E5AFEFE}"/>
              </a:ext>
            </a:extLst>
          </p:cNvPr>
          <p:cNvSpPr txBox="1"/>
          <p:nvPr/>
        </p:nvSpPr>
        <p:spPr>
          <a:xfrm>
            <a:off x="8545469" y="4339638"/>
            <a:ext cx="2691605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Envoi de mails: </a:t>
            </a:r>
            <a:endParaRPr lang="fr-FR" sz="2000">
              <a:solidFill>
                <a:schemeClr val="tx1"/>
              </a:solidFill>
            </a:endParaRPr>
          </a:p>
          <a:p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Horaires</a:t>
            </a:r>
            <a:endParaRPr lang="fr-FR" sz="2000">
              <a:solidFill>
                <a:schemeClr val="tx1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Alertes</a:t>
            </a:r>
            <a:endParaRPr lang="en-US" sz="2000">
              <a:solidFill>
                <a:schemeClr val="tx1"/>
              </a:solidFill>
              <a:latin typeface="Poppins"/>
              <a:cs typeface="Poppins"/>
            </a:endParaRPr>
          </a:p>
        </p:txBody>
      </p:sp>
      <p:pic>
        <p:nvPicPr>
          <p:cNvPr id="9" name="Google Shape;150;p16" descr="image.png">
            <a:extLst>
              <a:ext uri="{FF2B5EF4-FFF2-40B4-BE49-F238E27FC236}">
                <a16:creationId xmlns:a16="http://schemas.microsoft.com/office/drawing/2014/main" id="{273EDAA4-195B-BE26-B349-FB5ED3A6434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440" y="4044694"/>
            <a:ext cx="3500528" cy="22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2;p16">
            <a:extLst>
              <a:ext uri="{FF2B5EF4-FFF2-40B4-BE49-F238E27FC236}">
                <a16:creationId xmlns:a16="http://schemas.microsoft.com/office/drawing/2014/main" id="{FD455966-7FF4-A2B3-0CCE-C60CBFD42222}"/>
              </a:ext>
            </a:extLst>
          </p:cNvPr>
          <p:cNvSpPr txBox="1"/>
          <p:nvPr/>
        </p:nvSpPr>
        <p:spPr>
          <a:xfrm>
            <a:off x="4606849" y="4159592"/>
            <a:ext cx="29828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400" b="1" err="1">
                <a:solidFill>
                  <a:srgbClr val="7030A0"/>
                </a:solidFill>
                <a:latin typeface="Poppins"/>
                <a:cs typeface="Poppins"/>
                <a:sym typeface="Poppins"/>
              </a:rPr>
              <a:t>Suivi</a:t>
            </a:r>
            <a:endParaRPr lang="en-US" sz="2400"/>
          </a:p>
        </p:txBody>
      </p:sp>
      <p:sp>
        <p:nvSpPr>
          <p:cNvPr id="11" name="Google Shape;152;p16">
            <a:extLst>
              <a:ext uri="{FF2B5EF4-FFF2-40B4-BE49-F238E27FC236}">
                <a16:creationId xmlns:a16="http://schemas.microsoft.com/office/drawing/2014/main" id="{88CF92A0-EC03-69E7-B3D6-B1BE9E473A67}"/>
              </a:ext>
            </a:extLst>
          </p:cNvPr>
          <p:cNvSpPr txBox="1"/>
          <p:nvPr/>
        </p:nvSpPr>
        <p:spPr>
          <a:xfrm>
            <a:off x="4535037" y="4612270"/>
            <a:ext cx="3250139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Visibilité</a:t>
            </a:r>
            <a:endParaRPr lang="en-US" sz="2000">
              <a:solidFill>
                <a:schemeClr val="tx1"/>
              </a:solidFill>
              <a:latin typeface="Poppins"/>
              <a:cs typeface="Poppins"/>
            </a:endParaRPr>
          </a:p>
          <a:p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Gestion absences</a:t>
            </a:r>
            <a:endParaRPr lang="en-US" sz="2000">
              <a:solidFill>
                <a:schemeClr val="tx1"/>
              </a:solidFill>
              <a:latin typeface="Poppins"/>
              <a:cs typeface="Poppins"/>
            </a:endParaRPr>
          </a:p>
          <a:p>
            <a:endParaRPr lang="en-US" sz="2000" b="1">
              <a:solidFill>
                <a:schemeClr val="tx1"/>
              </a:solidFill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US" sz="2000" b="1">
                <a:solidFill>
                  <a:schemeClr val="tx1"/>
                </a:solidFill>
                <a:latin typeface="Poppins"/>
                <a:cs typeface="Poppins"/>
              </a:rPr>
              <a:t>Quota </a:t>
            </a:r>
            <a:r>
              <a:rPr lang="en-US" sz="2000" b="1" err="1">
                <a:solidFill>
                  <a:schemeClr val="tx1"/>
                </a:solidFill>
                <a:latin typeface="Poppins"/>
                <a:cs typeface="Poppins"/>
              </a:rPr>
              <a:t>heures</a:t>
            </a:r>
          </a:p>
        </p:txBody>
      </p:sp>
      <p:sp>
        <p:nvSpPr>
          <p:cNvPr id="16" name="Organigramme : Connecteur 15">
            <a:extLst>
              <a:ext uri="{FF2B5EF4-FFF2-40B4-BE49-F238E27FC236}">
                <a16:creationId xmlns:a16="http://schemas.microsoft.com/office/drawing/2014/main" id="{928A949D-8D2B-93A6-BFD2-F1B91A9321B6}"/>
              </a:ext>
            </a:extLst>
          </p:cNvPr>
          <p:cNvSpPr/>
          <p:nvPr/>
        </p:nvSpPr>
        <p:spPr>
          <a:xfrm>
            <a:off x="8303736" y="6311110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AA48E2-3626-AE10-AAFA-9B3D40D79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D2BB937-8DFB-E636-29E2-A250C4AC6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333" y="4056030"/>
            <a:ext cx="1617134" cy="166843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1193CB4-6F9A-8B68-1DEC-AC4A635AC3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9858" y="2505634"/>
            <a:ext cx="1264024" cy="1228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64;p17" descr="image.png">
            <a:extLst>
              <a:ext uri="{FF2B5EF4-FFF2-40B4-BE49-F238E27FC236}">
                <a16:creationId xmlns:a16="http://schemas.microsoft.com/office/drawing/2014/main" id="{0668B57A-3B38-271F-7D68-44AFEF48BD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1E79CE8-8FC2-11E3-0FF5-76B94226F3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" t="366" r="21635" b="1951"/>
          <a:stretch>
            <a:fillRect/>
          </a:stretch>
        </p:blipFill>
        <p:spPr>
          <a:xfrm>
            <a:off x="8169080" y="0"/>
            <a:ext cx="4019948" cy="6861862"/>
          </a:xfrm>
          <a:prstGeom prst="rect">
            <a:avLst/>
          </a:prstGeom>
        </p:spPr>
      </p:pic>
      <p:sp>
        <p:nvSpPr>
          <p:cNvPr id="176" name="Google Shape;176;p17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Cas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endParaRPr lang="en-US" sz="3200" b="1" u="sng" err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">
            <a:extLst>
              <a:ext uri="{FF2B5EF4-FFF2-40B4-BE49-F238E27FC236}">
                <a16:creationId xmlns:a16="http://schemas.microsoft.com/office/drawing/2014/main" id="{187E831D-2E0A-C602-2596-6FB5D1D19181}"/>
              </a:ext>
            </a:extLst>
          </p:cNvPr>
          <p:cNvSpPr/>
          <p:nvPr/>
        </p:nvSpPr>
        <p:spPr>
          <a:xfrm>
            <a:off x="2272484" y="2358535"/>
            <a:ext cx="1744309" cy="775965"/>
          </a:xfrm>
          <a:prstGeom prst="roundRect">
            <a:avLst/>
          </a:prstGeom>
          <a:solidFill>
            <a:srgbClr val="FA8B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800" b="1">
                <a:latin typeface="Poppins"/>
                <a:ea typeface="+mn-lt"/>
                <a:cs typeface="Poppins"/>
              </a:rPr>
              <a:t>Bénéficiaire</a:t>
            </a:r>
            <a:endParaRPr lang="fr-FR" sz="1800" b="1">
              <a:latin typeface="Poppins"/>
              <a:cs typeface="Poppins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1886FFC-B200-A246-A671-A0A1E99E47DD}"/>
              </a:ext>
            </a:extLst>
          </p:cNvPr>
          <p:cNvSpPr/>
          <p:nvPr/>
        </p:nvSpPr>
        <p:spPr>
          <a:xfrm>
            <a:off x="1943143" y="3256145"/>
            <a:ext cx="2402989" cy="76950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800" b="1">
                <a:latin typeface="Poppins"/>
                <a:ea typeface="+mn-lt"/>
                <a:cs typeface="Poppins"/>
              </a:rPr>
              <a:t>Interprète 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97D0D95-9813-AC76-005A-70B9C1A12A2A}"/>
              </a:ext>
            </a:extLst>
          </p:cNvPr>
          <p:cNvSpPr/>
          <p:nvPr/>
        </p:nvSpPr>
        <p:spPr>
          <a:xfrm>
            <a:off x="1471735" y="4153754"/>
            <a:ext cx="3345802" cy="75013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800" b="1">
                <a:latin typeface="Poppins"/>
                <a:ea typeface="+mn-lt"/>
                <a:cs typeface="Poppins"/>
              </a:rPr>
              <a:t>Résa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28B6547-D771-DFC0-4DE7-051C7E5E0FA4}"/>
              </a:ext>
            </a:extLst>
          </p:cNvPr>
          <p:cNvSpPr/>
          <p:nvPr/>
        </p:nvSpPr>
        <p:spPr>
          <a:xfrm>
            <a:off x="916380" y="5044906"/>
            <a:ext cx="4456512" cy="763050"/>
          </a:xfrm>
          <a:prstGeom prst="roundRect">
            <a:avLst/>
          </a:prstGeom>
          <a:solidFill>
            <a:srgbClr val="068C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800" b="1">
                <a:latin typeface="Poppins"/>
                <a:ea typeface="+mn-lt"/>
                <a:cs typeface="Poppins"/>
              </a:rPr>
              <a:t>Coordinatrice</a:t>
            </a:r>
          </a:p>
        </p:txBody>
      </p:sp>
      <p:sp>
        <p:nvSpPr>
          <p:cNvPr id="4" name="Google Shape;152;p16">
            <a:extLst>
              <a:ext uri="{FF2B5EF4-FFF2-40B4-BE49-F238E27FC236}">
                <a16:creationId xmlns:a16="http://schemas.microsoft.com/office/drawing/2014/main" id="{A12B2E1F-BD38-15DB-C17E-3B5DDE3DF58B}"/>
              </a:ext>
            </a:extLst>
          </p:cNvPr>
          <p:cNvSpPr txBox="1"/>
          <p:nvPr/>
        </p:nvSpPr>
        <p:spPr>
          <a:xfrm>
            <a:off x="575872" y="1408577"/>
            <a:ext cx="46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i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Pyramide</a:t>
            </a:r>
            <a:r>
              <a:rPr lang="en-US" sz="24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des </a:t>
            </a:r>
            <a:r>
              <a:rPr lang="en-US" sz="2400" i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privilèges</a:t>
            </a:r>
            <a:endParaRPr lang="fr-FR" sz="2400" i="1" u="sng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5" name="Google Shape;152;p16">
            <a:extLst>
              <a:ext uri="{FF2B5EF4-FFF2-40B4-BE49-F238E27FC236}">
                <a16:creationId xmlns:a16="http://schemas.microsoft.com/office/drawing/2014/main" id="{68B3035A-CF7B-0BB9-8C82-6EF5D9E9E1D5}"/>
              </a:ext>
            </a:extLst>
          </p:cNvPr>
          <p:cNvSpPr txBox="1"/>
          <p:nvPr/>
        </p:nvSpPr>
        <p:spPr>
          <a:xfrm>
            <a:off x="562956" y="1840846"/>
            <a:ext cx="670451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Note:</a:t>
            </a:r>
            <a:r>
              <a:rPr lang="en-US" sz="16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plus le bloc est grand, plus </a:t>
            </a:r>
            <a:r>
              <a:rPr lang="en-US" sz="16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l'utilisateur</a:t>
            </a:r>
            <a:r>
              <a:rPr lang="en-US" sz="16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 a de </a:t>
            </a:r>
            <a:r>
              <a:rPr lang="en-US" sz="16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privilèges</a:t>
            </a:r>
            <a:endParaRPr lang="en-US" sz="1600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6" name="Arrow: Down 8">
            <a:extLst>
              <a:ext uri="{FF2B5EF4-FFF2-40B4-BE49-F238E27FC236}">
                <a16:creationId xmlns:a16="http://schemas.microsoft.com/office/drawing/2014/main" id="{6FB84E07-163A-09F2-60B8-C92F980742E0}"/>
              </a:ext>
            </a:extLst>
          </p:cNvPr>
          <p:cNvSpPr/>
          <p:nvPr/>
        </p:nvSpPr>
        <p:spPr>
          <a:xfrm>
            <a:off x="5565367" y="2355344"/>
            <a:ext cx="252022" cy="3447325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08CC9F23-2DB7-03FF-F99E-BD25550E9FA4}"/>
              </a:ext>
            </a:extLst>
          </p:cNvPr>
          <p:cNvSpPr/>
          <p:nvPr/>
        </p:nvSpPr>
        <p:spPr>
          <a:xfrm>
            <a:off x="83077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71C34-D114-901A-684D-7C18391E8F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4F605D0E-63C5-33EC-C003-C92E4021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!!zoomB"/>
          <p:cNvSpPr/>
          <p:nvPr/>
        </p:nvSpPr>
        <p:spPr>
          <a:xfrm>
            <a:off x="-1200000" y="-700000"/>
            <a:ext cx="14600000" cy="8260000"/>
          </a:xfrm>
          <a:prstGeom prst="roundRect">
            <a:avLst/>
          </a:prstGeom>
          <a:solidFill>
            <a:schemeClr val="accent6">
              <a:alpha val="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4" name="Google Shape;164;p17" descr="image.png">
            <a:extLst>
              <a:ext uri="{FF2B5EF4-FFF2-40B4-BE49-F238E27FC236}">
                <a16:creationId xmlns:a16="http://schemas.microsoft.com/office/drawing/2014/main" id="{D454F076-1C61-742A-D4A6-E6A51ABB9C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77DEC3CF-E769-33F2-7A29-4A44968650D8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Cas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– Mise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situation</a:t>
            </a:r>
            <a:endParaRPr lang="en-US" sz="3200" b="1" u="sng" err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58F74985-1A13-DA5B-B565-CED6B7F9EF37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E4F27E71-DBC7-6474-878A-F3349AAE43BA}"/>
              </a:ext>
            </a:extLst>
          </p:cNvPr>
          <p:cNvSpPr/>
          <p:nvPr/>
        </p:nvSpPr>
        <p:spPr>
          <a:xfrm>
            <a:off x="83077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6A73C8-D3E2-E249-0C56-32FBC59912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!!actor">
            <a:extLst>
              <a:ext uri="{FF2B5EF4-FFF2-40B4-BE49-F238E27FC236}">
                <a16:creationId xmlns:a16="http://schemas.microsoft.com/office/drawing/2014/main" id="{A00846E5-5EFE-115E-D9F3-FE87A1F70958}"/>
              </a:ext>
            </a:extLst>
          </p:cNvPr>
          <p:cNvSpPr txBox="1"/>
          <p:nvPr/>
        </p:nvSpPr>
        <p:spPr>
          <a:xfrm>
            <a:off x="7352317" y="1230357"/>
            <a:ext cx="3800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 err="1">
                <a:latin typeface="Poppins"/>
                <a:cs typeface="Poppins"/>
              </a:rPr>
              <a:t>Acteur</a:t>
            </a:r>
            <a:r>
              <a:rPr lang="en-US" sz="2400" b="1" dirty="0">
                <a:latin typeface="Poppins"/>
                <a:cs typeface="Poppins"/>
              </a:rPr>
              <a:t>: </a:t>
            </a:r>
            <a:r>
              <a:rPr lang="en-US" sz="2400" dirty="0" err="1">
                <a:latin typeface="Poppins"/>
                <a:cs typeface="Poppins"/>
              </a:rPr>
              <a:t>Bénéficiaire</a:t>
            </a:r>
            <a:r>
              <a:rPr lang="en-US" sz="2400" dirty="0">
                <a:latin typeface="Poppins"/>
                <a:cs typeface="Poppins"/>
              </a:rPr>
              <a:t> </a:t>
            </a:r>
            <a:endParaRPr lang="en-US" sz="2400" b="1" i="0" dirty="0">
              <a:latin typeface="Poppins"/>
              <a:cs typeface="Poppins"/>
            </a:endParaRPr>
          </a:p>
          <a:p>
            <a:pPr algn="ctr" rtl="0"/>
            <a:endParaRPr lang="fr-FR" sz="2000" b="0" i="0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7" name="Google Shape;149;p16" descr="image.png">
            <a:extLst>
              <a:ext uri="{FF2B5EF4-FFF2-40B4-BE49-F238E27FC236}">
                <a16:creationId xmlns:a16="http://schemas.microsoft.com/office/drawing/2014/main" id="{6C095491-575D-AD68-4530-EF940D814EB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862" y="1832476"/>
            <a:ext cx="4610908" cy="4483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A6CEA8E-72AC-D3FE-A117-FEE28027D8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66" t="2725" r="29516"/>
          <a:stretch>
            <a:fillRect/>
          </a:stretch>
        </p:blipFill>
        <p:spPr>
          <a:xfrm>
            <a:off x="5335590" y="1920925"/>
            <a:ext cx="6857128" cy="348721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DF8B3A7-3093-1254-909F-BF513B268053}"/>
              </a:ext>
            </a:extLst>
          </p:cNvPr>
          <p:cNvSpPr txBox="1"/>
          <p:nvPr/>
        </p:nvSpPr>
        <p:spPr>
          <a:xfrm>
            <a:off x="675967" y="1302774"/>
            <a:ext cx="4694903" cy="851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dirty="0" err="1">
                <a:latin typeface="Poppins"/>
                <a:cs typeface="Poppins"/>
              </a:rPr>
              <a:t>Problématiques</a:t>
            </a:r>
            <a:r>
              <a:rPr lang="en-US" sz="2400" b="1" dirty="0">
                <a:latin typeface="Poppins"/>
                <a:cs typeface="Poppins"/>
              </a:rPr>
              <a:t> -&gt; 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solutions</a:t>
            </a:r>
            <a:endParaRPr lang="en-US" sz="2400" b="1">
              <a:solidFill>
                <a:schemeClr val="tx1"/>
              </a:solidFill>
              <a:latin typeface="Poppins"/>
              <a:cs typeface="Segoe UI"/>
            </a:endParaRPr>
          </a:p>
          <a:p>
            <a:pPr>
              <a:lnSpc>
                <a:spcPts val="3000"/>
              </a:lnSpc>
            </a:pPr>
            <a:endParaRPr lang="en-US" sz="2400" dirty="0"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07DC245-339C-A852-9A68-17F0C1E1411A}"/>
              </a:ext>
            </a:extLst>
          </p:cNvPr>
          <p:cNvSpPr txBox="1"/>
          <p:nvPr/>
        </p:nvSpPr>
        <p:spPr>
          <a:xfrm>
            <a:off x="626808" y="2261420"/>
            <a:ext cx="4547418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Besoins</a:t>
            </a:r>
            <a:r>
              <a:rPr lang="en-US" sz="2400" dirty="0">
                <a:latin typeface="Poppins"/>
                <a:cs typeface="Poppins"/>
              </a:rPr>
              <a:t> </a:t>
            </a:r>
            <a:r>
              <a:rPr lang="en-US" sz="2400" dirty="0" err="1">
                <a:latin typeface="Poppins"/>
                <a:cs typeface="Poppins"/>
              </a:rPr>
              <a:t>interprète</a:t>
            </a:r>
            <a:r>
              <a:rPr lang="en-US" sz="2400" dirty="0">
                <a:latin typeface="Poppins"/>
                <a:cs typeface="Poppins"/>
              </a:rPr>
              <a:t> -&gt; </a:t>
            </a:r>
            <a:r>
              <a:rPr lang="en-US" sz="2400" b="1" dirty="0">
                <a:latin typeface="Poppins"/>
                <a:cs typeface="Poppins"/>
              </a:rPr>
              <a:t>A</a:t>
            </a: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Infos</a:t>
            </a:r>
            <a:r>
              <a:rPr lang="en-US" sz="2400" dirty="0">
                <a:latin typeface="Poppins"/>
                <a:cs typeface="Poppins"/>
              </a:rPr>
              <a:t> sur </a:t>
            </a:r>
            <a:r>
              <a:rPr lang="en-US" sz="2400" dirty="0" err="1">
                <a:latin typeface="Poppins"/>
                <a:cs typeface="Poppins"/>
              </a:rPr>
              <a:t>interprètes</a:t>
            </a:r>
            <a:r>
              <a:rPr lang="en-US" sz="2400" dirty="0">
                <a:latin typeface="Poppins"/>
                <a:cs typeface="Poppins"/>
              </a:rPr>
              <a:t> de la </a:t>
            </a:r>
            <a:r>
              <a:rPr lang="en-US" sz="2400" dirty="0" err="1">
                <a:latin typeface="Poppins"/>
                <a:cs typeface="Poppins"/>
              </a:rPr>
              <a:t>journée</a:t>
            </a:r>
            <a:r>
              <a:rPr lang="en-US" sz="2400" dirty="0">
                <a:latin typeface="Poppins"/>
                <a:cs typeface="Poppins"/>
              </a:rPr>
              <a:t> -&gt; </a:t>
            </a:r>
            <a:r>
              <a:rPr lang="en-US" sz="2400" b="1" dirty="0">
                <a:latin typeface="Poppins"/>
                <a:cs typeface="Poppins"/>
              </a:rPr>
              <a:t>B</a:t>
            </a:r>
          </a:p>
          <a:p>
            <a:pPr marL="457200" indent="-457200">
              <a:buAutoNum type="arabicPeriod"/>
            </a:pPr>
            <a:endParaRPr lang="en-US" sz="24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4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Poppins"/>
                <a:cs typeface="Poppins"/>
              </a:rPr>
              <a:t>Changer MDP première </a:t>
            </a:r>
            <a:r>
              <a:rPr lang="en-US" sz="2400" dirty="0" err="1">
                <a:latin typeface="Poppins"/>
                <a:cs typeface="Poppins"/>
              </a:rPr>
              <a:t>connexion</a:t>
            </a:r>
            <a:r>
              <a:rPr lang="en-US" sz="2400" dirty="0">
                <a:latin typeface="Poppins"/>
                <a:cs typeface="Poppins"/>
              </a:rPr>
              <a:t> -&gt;</a:t>
            </a:r>
            <a:r>
              <a:rPr lang="en-US" sz="2400" b="1" dirty="0">
                <a:latin typeface="Poppins"/>
                <a:cs typeface="Poppins"/>
              </a:rPr>
              <a:t> C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CFB08C-5F65-C48E-5D9B-17AF840CFD52}"/>
              </a:ext>
            </a:extLst>
          </p:cNvPr>
          <p:cNvSpPr txBox="1"/>
          <p:nvPr/>
        </p:nvSpPr>
        <p:spPr>
          <a:xfrm>
            <a:off x="8689257" y="2372031"/>
            <a:ext cx="86032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latin typeface="Poppins"/>
              </a:rPr>
              <a:t>A</a:t>
            </a:r>
            <a:endParaRPr lang="fr-FR" sz="2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248EEA1-9EA1-91C7-87ED-23E90F6DFDBB}"/>
              </a:ext>
            </a:extLst>
          </p:cNvPr>
          <p:cNvSpPr txBox="1"/>
          <p:nvPr/>
        </p:nvSpPr>
        <p:spPr>
          <a:xfrm>
            <a:off x="9119420" y="3539613"/>
            <a:ext cx="5284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B</a:t>
            </a:r>
            <a:endParaRPr lang="fr-FR" sz="280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93B3B72-A8FE-118F-68EA-409646041AA5}"/>
              </a:ext>
            </a:extLst>
          </p:cNvPr>
          <p:cNvSpPr txBox="1"/>
          <p:nvPr/>
        </p:nvSpPr>
        <p:spPr>
          <a:xfrm>
            <a:off x="9254614" y="4485968"/>
            <a:ext cx="7865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C</a:t>
            </a:r>
            <a:endParaRPr lang="fr-FR" sz="2800"/>
          </a:p>
        </p:txBody>
      </p:sp>
    </p:spTree>
    <p:extLst>
      <p:ext uri="{BB962C8B-B14F-4D97-AF65-F5344CB8AC3E}">
        <p14:creationId xmlns:p14="http://schemas.microsoft.com/office/powerpoint/2010/main" val="1828868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17EBBB33-7851-8FC0-A317-89BBAD27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!!zoomB">
            <a:extLst>
              <a:ext uri="{FF2B5EF4-FFF2-40B4-BE49-F238E27FC236}">
                <a16:creationId xmlns:a16="http://schemas.microsoft.com/office/drawing/2014/main" id="{8CA0277F-B2DD-7B33-1055-DB964D4CE2F2}"/>
              </a:ext>
            </a:extLst>
          </p:cNvPr>
          <p:cNvSpPr/>
          <p:nvPr/>
        </p:nvSpPr>
        <p:spPr>
          <a:xfrm>
            <a:off x="-1200000" y="-700000"/>
            <a:ext cx="14600000" cy="8260000"/>
          </a:xfrm>
          <a:prstGeom prst="roundRect">
            <a:avLst/>
          </a:prstGeom>
          <a:solidFill>
            <a:schemeClr val="accent6">
              <a:alpha val="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4" name="Google Shape;164;p17" descr="image.png">
            <a:extLst>
              <a:ext uri="{FF2B5EF4-FFF2-40B4-BE49-F238E27FC236}">
                <a16:creationId xmlns:a16="http://schemas.microsoft.com/office/drawing/2014/main" id="{ABC30C38-79A3-FA25-D1E9-A2E871F069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91E4D595-5E1D-D812-ECBE-F4349A3AFDA7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Cas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– Mise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situation</a:t>
            </a:r>
            <a:endParaRPr lang="en-US" sz="3200" b="1" u="sng" err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36EFC96E-AEE9-9E30-70A0-209823E0ED9F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F5ADA40C-D6C0-12C5-3A1D-0ACE3C405C86}"/>
              </a:ext>
            </a:extLst>
          </p:cNvPr>
          <p:cNvSpPr/>
          <p:nvPr/>
        </p:nvSpPr>
        <p:spPr>
          <a:xfrm>
            <a:off x="83077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A0077B-B16E-AFB1-05AD-8015BC1B33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!!actor">
            <a:extLst>
              <a:ext uri="{FF2B5EF4-FFF2-40B4-BE49-F238E27FC236}">
                <a16:creationId xmlns:a16="http://schemas.microsoft.com/office/drawing/2014/main" id="{FC1E12FB-E55F-57C8-3109-AB90C1B04A40}"/>
              </a:ext>
            </a:extLst>
          </p:cNvPr>
          <p:cNvSpPr txBox="1"/>
          <p:nvPr/>
        </p:nvSpPr>
        <p:spPr>
          <a:xfrm>
            <a:off x="7352317" y="1230357"/>
            <a:ext cx="3800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 err="1">
                <a:latin typeface="Poppins"/>
                <a:cs typeface="Poppins"/>
              </a:rPr>
              <a:t>Acteur</a:t>
            </a:r>
            <a:r>
              <a:rPr lang="en-US" sz="2400" b="1" dirty="0">
                <a:latin typeface="Poppins"/>
                <a:cs typeface="Poppins"/>
              </a:rPr>
              <a:t>: </a:t>
            </a:r>
            <a:r>
              <a:rPr lang="en-US" sz="2400" dirty="0" err="1">
                <a:latin typeface="Poppins"/>
                <a:cs typeface="Poppins"/>
              </a:rPr>
              <a:t>Interprète</a:t>
            </a:r>
            <a:r>
              <a:rPr lang="en-US" sz="2400" dirty="0">
                <a:latin typeface="Poppins"/>
                <a:cs typeface="Poppins"/>
              </a:rPr>
              <a:t> </a:t>
            </a:r>
            <a:endParaRPr lang="en-US" sz="2400" b="1" i="0" dirty="0">
              <a:latin typeface="Poppins"/>
              <a:cs typeface="Poppins"/>
            </a:endParaRPr>
          </a:p>
          <a:p>
            <a:pPr algn="ctr" rtl="0"/>
            <a:endParaRPr lang="fr-FR" sz="2000" b="0" i="0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7" name="Google Shape;149;p16" descr="image.png">
            <a:extLst>
              <a:ext uri="{FF2B5EF4-FFF2-40B4-BE49-F238E27FC236}">
                <a16:creationId xmlns:a16="http://schemas.microsoft.com/office/drawing/2014/main" id="{27F8C90C-8D4B-5B52-9A4A-9FB9645873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862" y="1832476"/>
            <a:ext cx="4610908" cy="448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4364792-7260-A5C7-DF74-A61470BDEFF7}"/>
              </a:ext>
            </a:extLst>
          </p:cNvPr>
          <p:cNvSpPr txBox="1"/>
          <p:nvPr/>
        </p:nvSpPr>
        <p:spPr>
          <a:xfrm>
            <a:off x="675967" y="1302774"/>
            <a:ext cx="4694903" cy="851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dirty="0" err="1">
                <a:latin typeface="Poppins"/>
                <a:cs typeface="Poppins"/>
              </a:rPr>
              <a:t>Problématiques</a:t>
            </a:r>
            <a:r>
              <a:rPr lang="en-US" sz="2400" b="1" dirty="0">
                <a:latin typeface="Poppins"/>
                <a:cs typeface="Poppins"/>
              </a:rPr>
              <a:t> -&gt; 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solutions</a:t>
            </a:r>
            <a:endParaRPr lang="en-US" sz="2400" b="1">
              <a:solidFill>
                <a:schemeClr val="tx1"/>
              </a:solidFill>
              <a:latin typeface="Poppins"/>
              <a:cs typeface="Segoe UI"/>
            </a:endParaRPr>
          </a:p>
          <a:p>
            <a:pPr>
              <a:lnSpc>
                <a:spcPts val="3000"/>
              </a:lnSpc>
            </a:pPr>
            <a:endParaRPr lang="en-US" sz="2400" dirty="0"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91FB7D1-D825-3239-6CB3-E6EAC6BACC4C}"/>
              </a:ext>
            </a:extLst>
          </p:cNvPr>
          <p:cNvSpPr txBox="1"/>
          <p:nvPr/>
        </p:nvSpPr>
        <p:spPr>
          <a:xfrm>
            <a:off x="626808" y="2261420"/>
            <a:ext cx="4485967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400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Responsable</a:t>
            </a:r>
            <a:r>
              <a:rPr lang="en-US" sz="2400" dirty="0">
                <a:latin typeface="Poppins"/>
                <a:cs typeface="Poppins"/>
              </a:rPr>
              <a:t> enfant </a:t>
            </a:r>
            <a:r>
              <a:rPr lang="en-US" sz="2400" dirty="0" err="1">
                <a:latin typeface="Poppins"/>
                <a:cs typeface="Poppins"/>
              </a:rPr>
              <a:t>envoie</a:t>
            </a:r>
            <a:r>
              <a:rPr lang="en-US" sz="2400" dirty="0">
                <a:latin typeface="Poppins"/>
                <a:cs typeface="Poppins"/>
              </a:rPr>
              <a:t> </a:t>
            </a:r>
            <a:r>
              <a:rPr lang="en-US" sz="2400" dirty="0" err="1">
                <a:latin typeface="Poppins"/>
                <a:cs typeface="Poppins"/>
              </a:rPr>
              <a:t>demande</a:t>
            </a:r>
            <a:r>
              <a:rPr lang="en-US" sz="2400" dirty="0">
                <a:latin typeface="Poppins"/>
                <a:cs typeface="Poppins"/>
              </a:rPr>
              <a:t> -&gt; </a:t>
            </a:r>
            <a:r>
              <a:rPr lang="en-US" sz="2400" b="1" dirty="0">
                <a:latin typeface="Poppins"/>
                <a:cs typeface="Poppins"/>
              </a:rPr>
              <a:t>A</a:t>
            </a:r>
            <a:endParaRPr lang="fr-FR"/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Imprévu</a:t>
            </a:r>
            <a:r>
              <a:rPr lang="en-US" sz="2400" dirty="0">
                <a:latin typeface="Poppins"/>
                <a:cs typeface="Poppins"/>
              </a:rPr>
              <a:t> (</a:t>
            </a:r>
            <a:r>
              <a:rPr lang="en-US" sz="2400" dirty="0" err="1">
                <a:latin typeface="Poppins"/>
                <a:cs typeface="Poppins"/>
              </a:rPr>
              <a:t>exemple</a:t>
            </a:r>
            <a:r>
              <a:rPr lang="en-US" sz="2400" dirty="0">
                <a:latin typeface="Poppins"/>
                <a:cs typeface="Poppins"/>
              </a:rPr>
              <a:t> : santé)  -&gt; </a:t>
            </a:r>
            <a:r>
              <a:rPr lang="en-US" sz="2400" b="1" dirty="0">
                <a:latin typeface="Poppins"/>
                <a:cs typeface="Poppins"/>
              </a:rPr>
              <a:t>B</a:t>
            </a:r>
          </a:p>
          <a:p>
            <a:pPr marL="457200" indent="-457200">
              <a:buAutoNum type="arabicPeriod"/>
            </a:pPr>
            <a:endParaRPr lang="en-US" sz="2400" b="1" dirty="0">
              <a:latin typeface="Poppins"/>
              <a:cs typeface="Poppin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5C330F-B0CC-152C-DEF6-2FCF0C61A9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86" r="25720" b="2186"/>
          <a:stretch>
            <a:fillRect/>
          </a:stretch>
        </p:blipFill>
        <p:spPr>
          <a:xfrm>
            <a:off x="5309267" y="2263416"/>
            <a:ext cx="6898263" cy="315425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8333D2B-0525-8170-3278-C6E5304B1E99}"/>
              </a:ext>
            </a:extLst>
          </p:cNvPr>
          <p:cNvSpPr txBox="1"/>
          <p:nvPr/>
        </p:nvSpPr>
        <p:spPr>
          <a:xfrm>
            <a:off x="8541774" y="2826774"/>
            <a:ext cx="5407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A</a:t>
            </a:r>
            <a:endParaRPr lang="fr-FR" sz="280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4F575F-DBB0-695D-8AE5-953FBEED2914}"/>
              </a:ext>
            </a:extLst>
          </p:cNvPr>
          <p:cNvSpPr txBox="1"/>
          <p:nvPr/>
        </p:nvSpPr>
        <p:spPr>
          <a:xfrm>
            <a:off x="8529485" y="4412226"/>
            <a:ext cx="7251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B</a:t>
            </a:r>
            <a:endParaRPr lang="fr-FR" sz="2800"/>
          </a:p>
        </p:txBody>
      </p:sp>
    </p:spTree>
    <p:extLst>
      <p:ext uri="{BB962C8B-B14F-4D97-AF65-F5344CB8AC3E}">
        <p14:creationId xmlns:p14="http://schemas.microsoft.com/office/powerpoint/2010/main" val="1728827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A46AC962-7684-A0F6-D142-4DA7F7B9A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>
            <a:extLst>
              <a:ext uri="{FF2B5EF4-FFF2-40B4-BE49-F238E27FC236}">
                <a16:creationId xmlns:a16="http://schemas.microsoft.com/office/drawing/2014/main" id="{84831E8F-6346-5A6D-B6B4-919BC7A92E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1EDEB53-87AC-4DE8-0020-66A07AA7FF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26" r="29923" b="4988"/>
          <a:stretch>
            <a:fillRect/>
          </a:stretch>
        </p:blipFill>
        <p:spPr>
          <a:xfrm>
            <a:off x="5261795" y="1703286"/>
            <a:ext cx="6929293" cy="4840501"/>
          </a:xfrm>
          <a:prstGeom prst="rect">
            <a:avLst/>
          </a:prstGeom>
        </p:spPr>
      </p:pic>
      <p:sp>
        <p:nvSpPr>
          <p:cNvPr id="176" name="Google Shape;176;p17">
            <a:extLst>
              <a:ext uri="{FF2B5EF4-FFF2-40B4-BE49-F238E27FC236}">
                <a16:creationId xmlns:a16="http://schemas.microsoft.com/office/drawing/2014/main" id="{637CEEF0-0C99-2B27-B8C7-64F30C811DFF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Cas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d'utilisation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– Mise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situation</a:t>
            </a:r>
            <a:endParaRPr lang="en-US" sz="3200" b="1" u="sng" err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5BD63F42-BB1E-F0C1-FC69-E076F366A2A5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439EDA43-B906-B1A7-73AE-4D1DFEFE3C11}"/>
              </a:ext>
            </a:extLst>
          </p:cNvPr>
          <p:cNvSpPr/>
          <p:nvPr/>
        </p:nvSpPr>
        <p:spPr>
          <a:xfrm>
            <a:off x="830772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668D28-F5A0-662A-7976-4F8B675A1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8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!!actor">
            <a:extLst>
              <a:ext uri="{FF2B5EF4-FFF2-40B4-BE49-F238E27FC236}">
                <a16:creationId xmlns:a16="http://schemas.microsoft.com/office/drawing/2014/main" id="{AE29051B-85CC-887C-8879-DEEADBF4EDAE}"/>
              </a:ext>
            </a:extLst>
          </p:cNvPr>
          <p:cNvSpPr txBox="1"/>
          <p:nvPr/>
        </p:nvSpPr>
        <p:spPr>
          <a:xfrm>
            <a:off x="7352317" y="1230357"/>
            <a:ext cx="3800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 err="1">
                <a:latin typeface="Poppins"/>
                <a:cs typeface="Poppins"/>
              </a:rPr>
              <a:t>Acteur</a:t>
            </a:r>
            <a:r>
              <a:rPr lang="en-US" sz="2400" b="1" dirty="0">
                <a:latin typeface="Poppins"/>
                <a:cs typeface="Poppins"/>
              </a:rPr>
              <a:t>: </a:t>
            </a:r>
            <a:r>
              <a:rPr lang="en-US" sz="2400" dirty="0" err="1">
                <a:latin typeface="Poppins"/>
                <a:cs typeface="Poppins"/>
              </a:rPr>
              <a:t>Coordinatrice</a:t>
            </a:r>
            <a:endParaRPr lang="en-US" sz="2400" b="1" i="0" dirty="0" err="1">
              <a:latin typeface="Poppins"/>
              <a:cs typeface="Poppins"/>
            </a:endParaRPr>
          </a:p>
          <a:p>
            <a:pPr algn="ctr" rtl="0"/>
            <a:endParaRPr lang="fr-FR" sz="2000" b="0" i="0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7" name="Google Shape;149;p16" descr="image.png">
            <a:extLst>
              <a:ext uri="{FF2B5EF4-FFF2-40B4-BE49-F238E27FC236}">
                <a16:creationId xmlns:a16="http://schemas.microsoft.com/office/drawing/2014/main" id="{25F973A4-0DBB-9ED6-376E-06F00CB3F0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862" y="1832476"/>
            <a:ext cx="4610908" cy="448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BF16B6D-FED7-FE6A-2512-3FDECADFDB75}"/>
              </a:ext>
            </a:extLst>
          </p:cNvPr>
          <p:cNvSpPr txBox="1"/>
          <p:nvPr/>
        </p:nvSpPr>
        <p:spPr>
          <a:xfrm>
            <a:off x="675967" y="1302774"/>
            <a:ext cx="4694903" cy="851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 b="1" dirty="0" err="1">
                <a:latin typeface="Poppins"/>
                <a:cs typeface="Poppins"/>
              </a:rPr>
              <a:t>Problématiques</a:t>
            </a:r>
            <a:r>
              <a:rPr lang="en-US" sz="2400" b="1" dirty="0">
                <a:latin typeface="Poppins"/>
                <a:cs typeface="Poppins"/>
              </a:rPr>
              <a:t> -&gt; </a:t>
            </a:r>
            <a:r>
              <a:rPr lang="en-US" sz="2400" b="1" dirty="0">
                <a:solidFill>
                  <a:schemeClr val="tx1"/>
                </a:solidFill>
                <a:latin typeface="Poppins"/>
                <a:cs typeface="Poppins"/>
              </a:rPr>
              <a:t>solutions</a:t>
            </a:r>
            <a:endParaRPr lang="en-US" sz="2400" b="1">
              <a:solidFill>
                <a:schemeClr val="tx1"/>
              </a:solidFill>
              <a:latin typeface="Poppins"/>
              <a:cs typeface="Segoe UI"/>
            </a:endParaRPr>
          </a:p>
          <a:p>
            <a:pPr>
              <a:lnSpc>
                <a:spcPts val="3000"/>
              </a:lnSpc>
            </a:pPr>
            <a:endParaRPr lang="en-US" sz="2400" dirty="0"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989624F-897A-DBCB-784E-D87AAB9D1475}"/>
              </a:ext>
            </a:extLst>
          </p:cNvPr>
          <p:cNvSpPr txBox="1"/>
          <p:nvPr/>
        </p:nvSpPr>
        <p:spPr>
          <a:xfrm>
            <a:off x="663679" y="1917291"/>
            <a:ext cx="4485967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endParaRPr lang="en-US" sz="2400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400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Bénéficiaire</a:t>
            </a:r>
            <a:r>
              <a:rPr lang="en-US" sz="2400" dirty="0">
                <a:latin typeface="Poppins"/>
                <a:cs typeface="Poppins"/>
              </a:rPr>
              <a:t> </a:t>
            </a:r>
            <a:r>
              <a:rPr lang="en-US" sz="2400" dirty="0" err="1">
                <a:latin typeface="Poppins"/>
                <a:cs typeface="Poppins"/>
              </a:rPr>
              <a:t>ou</a:t>
            </a:r>
            <a:r>
              <a:rPr lang="en-US" sz="2400" dirty="0">
                <a:latin typeface="Poppins"/>
                <a:cs typeface="Poppins"/>
              </a:rPr>
              <a:t> </a:t>
            </a:r>
            <a:r>
              <a:rPr lang="en-US" sz="2400" dirty="0" err="1">
                <a:latin typeface="Poppins"/>
                <a:cs typeface="Poppins"/>
              </a:rPr>
              <a:t>interprète</a:t>
            </a:r>
            <a:r>
              <a:rPr lang="en-US" sz="2400" dirty="0">
                <a:latin typeface="Poppins"/>
                <a:cs typeface="Poppins"/>
              </a:rPr>
              <a:t> rejoint </a:t>
            </a:r>
            <a:r>
              <a:rPr lang="en-US" sz="2400" dirty="0" err="1">
                <a:latin typeface="Poppins"/>
                <a:cs typeface="Poppins"/>
              </a:rPr>
              <a:t>l'ASBL</a:t>
            </a:r>
            <a:r>
              <a:rPr lang="en-US" sz="2400" dirty="0"/>
              <a:t> </a:t>
            </a:r>
            <a:r>
              <a:rPr lang="en-US" sz="2400" dirty="0">
                <a:latin typeface="Poppins"/>
                <a:cs typeface="Poppins"/>
              </a:rPr>
              <a:t>-&gt; </a:t>
            </a:r>
            <a:r>
              <a:rPr lang="en-US" sz="2400" b="1" dirty="0">
                <a:latin typeface="Poppins"/>
                <a:cs typeface="Poppins"/>
              </a:rPr>
              <a:t>A</a:t>
            </a:r>
            <a:endParaRPr lang="fr-FR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endParaRPr lang="en-US" sz="2000" b="1" dirty="0">
              <a:latin typeface="Poppins"/>
              <a:cs typeface="Poppins"/>
            </a:endParaRPr>
          </a:p>
          <a:p>
            <a:pPr marL="457200" indent="-457200">
              <a:buAutoNum type="arabicPeriod"/>
            </a:pPr>
            <a:r>
              <a:rPr lang="en-US" sz="2400" dirty="0" err="1">
                <a:latin typeface="Poppins"/>
                <a:cs typeface="Poppins"/>
              </a:rPr>
              <a:t>Demande</a:t>
            </a:r>
            <a:r>
              <a:rPr lang="en-US" sz="2400" dirty="0">
                <a:latin typeface="Poppins"/>
                <a:cs typeface="Poppins"/>
              </a:rPr>
              <a:t> </a:t>
            </a:r>
            <a:r>
              <a:rPr lang="en-US" sz="2400" dirty="0" err="1">
                <a:latin typeface="Poppins"/>
                <a:cs typeface="Poppins"/>
              </a:rPr>
              <a:t>d'indisponibilité</a:t>
            </a:r>
            <a:r>
              <a:rPr lang="en-US" sz="2400" dirty="0">
                <a:latin typeface="Poppins"/>
                <a:cs typeface="Poppins"/>
              </a:rPr>
              <a:t>: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400" dirty="0" err="1">
                <a:latin typeface="Poppins"/>
                <a:cs typeface="Poppins"/>
              </a:rPr>
              <a:t>Validée</a:t>
            </a:r>
            <a:r>
              <a:rPr lang="en-US" sz="2400" dirty="0">
                <a:latin typeface="Poppins"/>
                <a:cs typeface="Poppins"/>
              </a:rPr>
              <a:t>-&gt; </a:t>
            </a:r>
            <a:r>
              <a:rPr lang="en-US" sz="2400" b="1" dirty="0">
                <a:latin typeface="Poppins"/>
                <a:cs typeface="Poppins"/>
              </a:rPr>
              <a:t>B</a:t>
            </a:r>
            <a:endParaRPr lang="en-US" dirty="0"/>
          </a:p>
          <a:p>
            <a:pPr marL="914400" lvl="1" indent="-457200">
              <a:buFont typeface="Courier New"/>
              <a:buChar char="o"/>
            </a:pPr>
            <a:r>
              <a:rPr lang="en-US" sz="2400" dirty="0" err="1">
                <a:latin typeface="Poppins"/>
                <a:cs typeface="Poppins"/>
              </a:rPr>
              <a:t>Refusée</a:t>
            </a:r>
            <a:r>
              <a:rPr lang="en-US" sz="2400" dirty="0">
                <a:latin typeface="Poppins"/>
                <a:cs typeface="Poppins"/>
              </a:rPr>
              <a:t> </a:t>
            </a:r>
            <a:r>
              <a:rPr lang="en-US" sz="2400" b="1" dirty="0">
                <a:latin typeface="Poppins"/>
                <a:cs typeface="Poppins"/>
              </a:rPr>
              <a:t>-&gt; C</a:t>
            </a:r>
          </a:p>
          <a:p>
            <a:pPr marL="457200" indent="-457200">
              <a:buAutoNum type="arabicPeriod"/>
            </a:pPr>
            <a:endParaRPr lang="en-US" sz="2400" b="1" dirty="0"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39DBB8-10B6-0405-CF4E-C4E29B7421F5}"/>
              </a:ext>
            </a:extLst>
          </p:cNvPr>
          <p:cNvSpPr txBox="1"/>
          <p:nvPr/>
        </p:nvSpPr>
        <p:spPr>
          <a:xfrm>
            <a:off x="9672484" y="3810000"/>
            <a:ext cx="5407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A</a:t>
            </a:r>
            <a:endParaRPr lang="fr-FR" sz="280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FEDEB37-6150-5D32-89B4-36524CA7AB45}"/>
              </a:ext>
            </a:extLst>
          </p:cNvPr>
          <p:cNvSpPr txBox="1"/>
          <p:nvPr/>
        </p:nvSpPr>
        <p:spPr>
          <a:xfrm>
            <a:off x="9254614" y="4731774"/>
            <a:ext cx="7251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B</a:t>
            </a:r>
            <a:endParaRPr lang="fr-FR" sz="28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AF2EAF-ECCF-32E0-54B7-5E4B2A147E95}"/>
              </a:ext>
            </a:extLst>
          </p:cNvPr>
          <p:cNvSpPr txBox="1"/>
          <p:nvPr/>
        </p:nvSpPr>
        <p:spPr>
          <a:xfrm>
            <a:off x="9082549" y="5653548"/>
            <a:ext cx="540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>
                <a:solidFill>
                  <a:srgbClr val="000000"/>
                </a:solidFill>
                <a:latin typeface="Poppins"/>
              </a:rPr>
              <a:t>C</a:t>
            </a:r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46812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4;p17" descr="image.png">
            <a:extLst>
              <a:ext uri="{FF2B5EF4-FFF2-40B4-BE49-F238E27FC236}">
                <a16:creationId xmlns:a16="http://schemas.microsoft.com/office/drawing/2014/main" id="{F95B93F6-AFE8-21EB-9F6C-F89800C7E7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4" y="-147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763229" y="588461"/>
            <a:ext cx="9976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3200" b="1" i="0" u="sng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Conception Technique</a:t>
            </a:r>
            <a:endParaRPr lang="en-US" sz="3200" u="sng">
              <a:solidFill>
                <a:srgbClr val="704194"/>
              </a:solidFill>
            </a:endParaRPr>
          </a:p>
        </p:txBody>
      </p:sp>
      <p:sp>
        <p:nvSpPr>
          <p:cNvPr id="4" name="Google Shape;177;p17">
            <a:extLst>
              <a:ext uri="{FF2B5EF4-FFF2-40B4-BE49-F238E27FC236}">
                <a16:creationId xmlns:a16="http://schemas.microsoft.com/office/drawing/2014/main" id="{0C16D670-899A-31AB-70F3-3BF3AB816AA3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DE71DE13-B82F-E848-C527-3C169952477D}"/>
              </a:ext>
            </a:extLst>
          </p:cNvPr>
          <p:cNvSpPr/>
          <p:nvPr/>
        </p:nvSpPr>
        <p:spPr>
          <a:xfrm>
            <a:off x="8294499" y="6313418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38616F-D63C-3E9A-6862-60678E2656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3" name="!!arch">
            <a:extLst>
              <a:ext uri="{FF2B5EF4-FFF2-40B4-BE49-F238E27FC236}">
                <a16:creationId xmlns:a16="http://schemas.microsoft.com/office/drawing/2014/main" id="{70ED5B28-F52C-9C42-BC97-DC3C7C011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artisticBlur radius="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988" y="1238250"/>
            <a:ext cx="10944225" cy="507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107568D2-5C7B-5B4A-94CA-B90C1A92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4;p17" descr="image.png">
            <a:extLst>
              <a:ext uri="{FF2B5EF4-FFF2-40B4-BE49-F238E27FC236}">
                <a16:creationId xmlns:a16="http://schemas.microsoft.com/office/drawing/2014/main" id="{837B1AE3-3F02-64CC-4948-8AE375C331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7;p17">
            <a:extLst>
              <a:ext uri="{FF2B5EF4-FFF2-40B4-BE49-F238E27FC236}">
                <a16:creationId xmlns:a16="http://schemas.microsoft.com/office/drawing/2014/main" id="{91F53E2A-0630-5E9D-F6E7-829B49848AC6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FB71C79A-68E3-1E55-E7F4-6B0E3B4255BC}"/>
              </a:ext>
            </a:extLst>
          </p:cNvPr>
          <p:cNvSpPr/>
          <p:nvPr/>
        </p:nvSpPr>
        <p:spPr>
          <a:xfrm>
            <a:off x="8294499" y="6313418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EFD81-F435-1D2C-4061-1E43237E1D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31354" y="6360258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94" name="Google Shape;194;p18">
            <a:extLst>
              <a:ext uri="{FF2B5EF4-FFF2-40B4-BE49-F238E27FC236}">
                <a16:creationId xmlns:a16="http://schemas.microsoft.com/office/drawing/2014/main" id="{D79A66AF-5EA1-6E17-EE3E-4B47498F18ED}"/>
              </a:ext>
            </a:extLst>
          </p:cNvPr>
          <p:cNvSpPr txBox="1"/>
          <p:nvPr/>
        </p:nvSpPr>
        <p:spPr>
          <a:xfrm>
            <a:off x="769687" y="575546"/>
            <a:ext cx="9976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3200" b="1" i="0" u="sng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Conception </a:t>
            </a:r>
            <a:r>
              <a:rPr lang="en-US" sz="3200" b="1" u="sng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Technique – </a:t>
            </a:r>
            <a:r>
              <a:rPr lang="en-US" sz="3200" b="1" u="sng" err="1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TimeSlot</a:t>
            </a:r>
            <a:endParaRPr lang="en-US" sz="3200" u="sng">
              <a:solidFill>
                <a:srgbClr val="704194"/>
              </a:solidFill>
            </a:endParaRPr>
          </a:p>
        </p:txBody>
      </p:sp>
      <p:pic>
        <p:nvPicPr>
          <p:cNvPr id="7" name="!!arch">
            <a:extLst>
              <a:ext uri="{FF2B5EF4-FFF2-40B4-BE49-F238E27FC236}">
                <a16:creationId xmlns:a16="http://schemas.microsoft.com/office/drawing/2014/main" id="{1B592F10-A09D-4B25-E985-F5C7C26E92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000" b="58300"/>
          <a:stretch>
            <a:fillRect/>
          </a:stretch>
        </p:blipFill>
        <p:spPr>
          <a:xfrm>
            <a:off x="424953" y="1887670"/>
            <a:ext cx="10982720" cy="38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2379C4DC-AE0F-A847-0F25-17622918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4;p17" descr="image.png">
            <a:extLst>
              <a:ext uri="{FF2B5EF4-FFF2-40B4-BE49-F238E27FC236}">
                <a16:creationId xmlns:a16="http://schemas.microsoft.com/office/drawing/2014/main" id="{587EEDDA-B670-0247-25D4-5A4BBE2A30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7;p17">
            <a:extLst>
              <a:ext uri="{FF2B5EF4-FFF2-40B4-BE49-F238E27FC236}">
                <a16:creationId xmlns:a16="http://schemas.microsoft.com/office/drawing/2014/main" id="{517D5771-2C62-35D3-8483-16BAF9342D44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52DEE6CA-54C2-8172-0B96-737585452A70}"/>
              </a:ext>
            </a:extLst>
          </p:cNvPr>
          <p:cNvSpPr/>
          <p:nvPr/>
        </p:nvSpPr>
        <p:spPr>
          <a:xfrm>
            <a:off x="3988037" y="149551"/>
            <a:ext cx="1766130" cy="111807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Google Shape;194;p18">
            <a:extLst>
              <a:ext uri="{FF2B5EF4-FFF2-40B4-BE49-F238E27FC236}">
                <a16:creationId xmlns:a16="http://schemas.microsoft.com/office/drawing/2014/main" id="{112E9207-00DF-249F-E252-2BAC15FB4071}"/>
              </a:ext>
            </a:extLst>
          </p:cNvPr>
          <p:cNvSpPr txBox="1"/>
          <p:nvPr/>
        </p:nvSpPr>
        <p:spPr>
          <a:xfrm>
            <a:off x="763229" y="588461"/>
            <a:ext cx="9976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i="0" u="none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3200" b="1" i="0" u="sng" strike="noStrike" cap="none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Conception Technique</a:t>
            </a:r>
            <a:r>
              <a:rPr lang="en-US" sz="3200" b="1" u="sng">
                <a:solidFill>
                  <a:srgbClr val="704194"/>
                </a:solidFill>
                <a:latin typeface="Poppins"/>
                <a:ea typeface="Poppins"/>
                <a:cs typeface="Poppins"/>
                <a:sym typeface="Poppins"/>
              </a:rPr>
              <a:t> - User</a:t>
            </a:r>
            <a:endParaRPr lang="en-US" sz="3200" u="sng">
              <a:solidFill>
                <a:srgbClr val="704194"/>
              </a:solidFill>
            </a:endParaRPr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892E838A-5E49-1B2D-58D0-26B1DFBF3384}"/>
              </a:ext>
            </a:extLst>
          </p:cNvPr>
          <p:cNvSpPr/>
          <p:nvPr/>
        </p:nvSpPr>
        <p:spPr>
          <a:xfrm>
            <a:off x="8301620" y="6313418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8BBB44-B130-06E7-B98D-10760321D2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38345" y="6352871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7" name="!!arch">
            <a:extLst>
              <a:ext uri="{FF2B5EF4-FFF2-40B4-BE49-F238E27FC236}">
                <a16:creationId xmlns:a16="http://schemas.microsoft.com/office/drawing/2014/main" id="{FA1958BF-C7E5-E23F-9944-B4C5B88460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7" t="178" r="728" b="1762"/>
          <a:stretch>
            <a:fillRect/>
          </a:stretch>
        </p:blipFill>
        <p:spPr>
          <a:xfrm>
            <a:off x="1255926" y="1850372"/>
            <a:ext cx="9864117" cy="387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1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74" y="-8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5;p20" descr="image.png">
            <a:extLst>
              <a:ext uri="{FF2B5EF4-FFF2-40B4-BE49-F238E27FC236}">
                <a16:creationId xmlns:a16="http://schemas.microsoft.com/office/drawing/2014/main" id="{BFACED03-6589-375C-0FD9-F3710FC9CD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C014C3-17CD-428D-14CF-0846EA0809D0}"/>
              </a:ext>
            </a:extLst>
          </p:cNvPr>
          <p:cNvSpPr/>
          <p:nvPr/>
        </p:nvSpPr>
        <p:spPr>
          <a:xfrm>
            <a:off x="568718" y="1308264"/>
            <a:ext cx="10942089" cy="313198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2" name="Google Shape;194;p18">
            <a:extLst>
              <a:ext uri="{FF2B5EF4-FFF2-40B4-BE49-F238E27FC236}">
                <a16:creationId xmlns:a16="http://schemas.microsoft.com/office/drawing/2014/main" id="{DE58DFE0-7AFA-E2FC-0577-9E46EB905CE1}"/>
              </a:ext>
            </a:extLst>
          </p:cNvPr>
          <p:cNvSpPr txBox="1"/>
          <p:nvPr/>
        </p:nvSpPr>
        <p:spPr>
          <a:xfrm>
            <a:off x="763229" y="588461"/>
            <a:ext cx="9976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5. </a:t>
            </a:r>
            <a:r>
              <a:rPr lang="en-US" sz="3200" b="1" u="sng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Pile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technologique</a:t>
            </a:r>
            <a:endParaRPr lang="en-US" sz="3200" b="1" u="sng" err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37" name="Google Shape;177;p17">
            <a:extLst>
              <a:ext uri="{FF2B5EF4-FFF2-40B4-BE49-F238E27FC236}">
                <a16:creationId xmlns:a16="http://schemas.microsoft.com/office/drawing/2014/main" id="{44729C01-3B1E-210A-096C-D0E0906735C6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Organigramme : Connecteur 35">
            <a:extLst>
              <a:ext uri="{FF2B5EF4-FFF2-40B4-BE49-F238E27FC236}">
                <a16:creationId xmlns:a16="http://schemas.microsoft.com/office/drawing/2014/main" id="{31141047-7956-EF02-99BB-3ED822065D74}"/>
              </a:ext>
            </a:extLst>
          </p:cNvPr>
          <p:cNvSpPr/>
          <p:nvPr/>
        </p:nvSpPr>
        <p:spPr>
          <a:xfrm>
            <a:off x="830373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3D4E91-DA3A-EB7E-C4E1-3D9E650403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29001" y="636034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9102" name="LogoIntelliJ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52" y="1483850"/>
            <a:ext cx="700000" cy="700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6CB97E-931A-B29F-21FF-CA4EB3831850}"/>
              </a:ext>
            </a:extLst>
          </p:cNvPr>
          <p:cNvSpPr/>
          <p:nvPr/>
        </p:nvSpPr>
        <p:spPr>
          <a:xfrm>
            <a:off x="1678501" y="2027279"/>
            <a:ext cx="5057104" cy="2229303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pic>
        <p:nvPicPr>
          <p:cNvPr id="23" name="Image 22" descr="Une image contenant Graphique, graphisme, conception, créativité  Le contenu généré par l’IA peut être incorrect.">
            <a:extLst>
              <a:ext uri="{FF2B5EF4-FFF2-40B4-BE49-F238E27FC236}">
                <a16:creationId xmlns:a16="http://schemas.microsoft.com/office/drawing/2014/main" id="{22FC458B-ECE4-369F-0EE6-EC6477119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158" y="2616248"/>
            <a:ext cx="659014" cy="604965"/>
          </a:xfrm>
          <a:prstGeom prst="rect">
            <a:avLst/>
          </a:prstGeom>
        </p:spPr>
      </p:pic>
      <p:pic>
        <p:nvPicPr>
          <p:cNvPr id="24" name="Image 23" descr="Une image contenant Graphique, graphisme, symbole, Police  Le contenu généré par l’IA peut être incorrect.">
            <a:extLst>
              <a:ext uri="{FF2B5EF4-FFF2-40B4-BE49-F238E27FC236}">
                <a16:creationId xmlns:a16="http://schemas.microsoft.com/office/drawing/2014/main" id="{8CEE40E7-EF78-C543-2B49-15099758B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078" y="2625892"/>
            <a:ext cx="754304" cy="593240"/>
          </a:xfrm>
          <a:prstGeom prst="rect">
            <a:avLst/>
          </a:prstGeom>
        </p:spPr>
      </p:pic>
      <p:pic>
        <p:nvPicPr>
          <p:cNvPr id="25" name="Image 24" descr="Une image contenant Graphique, Police, graphisme, logo  Le contenu généré par l’IA peut être incorrect.">
            <a:extLst>
              <a:ext uri="{FF2B5EF4-FFF2-40B4-BE49-F238E27FC236}">
                <a16:creationId xmlns:a16="http://schemas.microsoft.com/office/drawing/2014/main" id="{7AFD6469-1FAD-A615-0ED8-47EAF5EF98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4303" y="3455882"/>
            <a:ext cx="622117" cy="608870"/>
          </a:xfrm>
          <a:prstGeom prst="rect">
            <a:avLst/>
          </a:prstGeom>
        </p:spPr>
      </p:pic>
      <p:pic>
        <p:nvPicPr>
          <p:cNvPr id="3" name="Image 2" descr="Une image contenant Police, Graphique, logo, conception  Le contenu généré par l’IA peut être incorrect.">
            <a:extLst>
              <a:ext uri="{FF2B5EF4-FFF2-40B4-BE49-F238E27FC236}">
                <a16:creationId xmlns:a16="http://schemas.microsoft.com/office/drawing/2014/main" id="{7144AC6B-7A5A-FB5B-7A63-CE7B144941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624" y="2620155"/>
            <a:ext cx="597149" cy="597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4BC440-44DF-B2CC-5FAB-B7711E25B198}"/>
              </a:ext>
            </a:extLst>
          </p:cNvPr>
          <p:cNvSpPr txBox="1"/>
          <p:nvPr/>
        </p:nvSpPr>
        <p:spPr>
          <a:xfrm>
            <a:off x="1836615" y="2040742"/>
            <a:ext cx="20504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Poppins SemiBold"/>
              </a:rPr>
              <a:t>Front-end</a:t>
            </a:r>
            <a:endParaRPr lang="en-US" sz="2400">
              <a:solidFill>
                <a:schemeClr val="bg1"/>
              </a:solidFill>
              <a:latin typeface="Poppins SemiBold"/>
              <a:cs typeface="Poppins SemiBold"/>
            </a:endParaRPr>
          </a:p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20E343-B237-B9EA-AD42-1470EC8A311B}"/>
              </a:ext>
            </a:extLst>
          </p:cNvPr>
          <p:cNvSpPr/>
          <p:nvPr/>
        </p:nvSpPr>
        <p:spPr>
          <a:xfrm>
            <a:off x="6922623" y="2031184"/>
            <a:ext cx="4412335" cy="2225398"/>
          </a:xfrm>
          <a:prstGeom prst="roundRect">
            <a:avLst/>
          </a:prstGeom>
          <a:solidFill>
            <a:srgbClr val="BA96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4EEAA-32FF-EBDD-83D8-803511B4358F}"/>
              </a:ext>
            </a:extLst>
          </p:cNvPr>
          <p:cNvSpPr txBox="1"/>
          <p:nvPr/>
        </p:nvSpPr>
        <p:spPr>
          <a:xfrm>
            <a:off x="7154984" y="2073029"/>
            <a:ext cx="185615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Poppins SemiBold"/>
              </a:rPr>
              <a:t>Back-end</a:t>
            </a:r>
          </a:p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35" name="Image 34" descr="Une image contenant Graphique, graphisme, Police, conception  Le contenu généré par l’IA peut être incorrect.">
            <a:extLst>
              <a:ext uri="{FF2B5EF4-FFF2-40B4-BE49-F238E27FC236}">
                <a16:creationId xmlns:a16="http://schemas.microsoft.com/office/drawing/2014/main" id="{31858DFE-BF80-0C18-A944-B6417ACA58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1976" y="2031123"/>
            <a:ext cx="1366781" cy="76485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E71AED-938D-0F0E-BBE2-012E4AC3C029}"/>
              </a:ext>
            </a:extLst>
          </p:cNvPr>
          <p:cNvSpPr/>
          <p:nvPr/>
        </p:nvSpPr>
        <p:spPr>
          <a:xfrm>
            <a:off x="7786221" y="2851797"/>
            <a:ext cx="2521013" cy="128755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F1167-6CB1-ABC2-76BD-BFDB1D17D0E0}"/>
              </a:ext>
            </a:extLst>
          </p:cNvPr>
          <p:cNvSpPr txBox="1"/>
          <p:nvPr/>
        </p:nvSpPr>
        <p:spPr>
          <a:xfrm>
            <a:off x="7788031" y="2960078"/>
            <a:ext cx="1977291" cy="3672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50"/>
              </a:lnSpc>
            </a:pPr>
            <a:r>
              <a:rPr lang="en-US" sz="2400">
                <a:solidFill>
                  <a:srgbClr val="FFFFFF"/>
                </a:solidFill>
                <a:latin typeface="Poppins SemiBold"/>
                <a:cs typeface="Segoe UI"/>
              </a:rPr>
              <a:t>Controllers</a:t>
            </a:r>
            <a:endParaRPr lang="en-US" sz="2400"/>
          </a:p>
        </p:txBody>
      </p:sp>
      <p:pic>
        <p:nvPicPr>
          <p:cNvPr id="28" name="Image 27" descr="Une image contenant Graphique, graphisme, clipart, créativité  Le contenu généré par l’IA peut être incorrect.">
            <a:extLst>
              <a:ext uri="{FF2B5EF4-FFF2-40B4-BE49-F238E27FC236}">
                <a16:creationId xmlns:a16="http://schemas.microsoft.com/office/drawing/2014/main" id="{75E8D00E-B205-0CCB-6A98-0E29E1B78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8190" y="3376212"/>
            <a:ext cx="661127" cy="687025"/>
          </a:xfrm>
          <a:prstGeom prst="rect">
            <a:avLst/>
          </a:prstGeom>
        </p:spPr>
      </p:pic>
      <p:pic>
        <p:nvPicPr>
          <p:cNvPr id="27" name="Image 26" descr="Une image contenant Graphique, symbole, orange, conception  Le contenu généré par l’IA peut être incorrect.">
            <a:extLst>
              <a:ext uri="{FF2B5EF4-FFF2-40B4-BE49-F238E27FC236}">
                <a16:creationId xmlns:a16="http://schemas.microsoft.com/office/drawing/2014/main" id="{64E3C439-7DED-1BFA-694B-449D560825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8789" y="3410563"/>
            <a:ext cx="668497" cy="70333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CAB110-2E24-6D05-7C06-6F6AE295F1BA}"/>
              </a:ext>
            </a:extLst>
          </p:cNvPr>
          <p:cNvSpPr/>
          <p:nvPr/>
        </p:nvSpPr>
        <p:spPr>
          <a:xfrm>
            <a:off x="4370901" y="4625895"/>
            <a:ext cx="7139905" cy="115859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5964ED-536F-7119-6C45-51556838BB9A}"/>
              </a:ext>
            </a:extLst>
          </p:cNvPr>
          <p:cNvSpPr/>
          <p:nvPr/>
        </p:nvSpPr>
        <p:spPr>
          <a:xfrm>
            <a:off x="568715" y="4625894"/>
            <a:ext cx="3611260" cy="1158599"/>
          </a:xfrm>
          <a:prstGeom prst="roundRect">
            <a:avLst/>
          </a:prstGeom>
          <a:solidFill>
            <a:srgbClr val="74A1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pic>
        <p:nvPicPr>
          <p:cNvPr id="29" name="Image 28" descr="Une image contenant cercle, logo, conception  Le contenu généré par l’IA peut être incorrect.">
            <a:extLst>
              <a:ext uri="{FF2B5EF4-FFF2-40B4-BE49-F238E27FC236}">
                <a16:creationId xmlns:a16="http://schemas.microsoft.com/office/drawing/2014/main" id="{69193A35-8E42-AF0E-56D1-4439684EBA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4567" y="4765313"/>
            <a:ext cx="912159" cy="8709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2FDD4E-5516-D0B3-39CE-E674F3EE39C1}"/>
              </a:ext>
            </a:extLst>
          </p:cNvPr>
          <p:cNvSpPr txBox="1"/>
          <p:nvPr/>
        </p:nvSpPr>
        <p:spPr>
          <a:xfrm>
            <a:off x="4583724" y="4964723"/>
            <a:ext cx="3079261" cy="974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550"/>
              </a:lnSpc>
            </a:pPr>
            <a:r>
              <a:rPr lang="en-US" sz="2400">
                <a:solidFill>
                  <a:srgbClr val="FFFFFF"/>
                </a:solidFill>
                <a:latin typeface="Poppins SemiBold"/>
                <a:cs typeface="Segoe UI"/>
              </a:rPr>
              <a:t>Base de données</a:t>
            </a:r>
            <a:endParaRPr lang="en-US"/>
          </a:p>
          <a:p>
            <a:pPr algn="ctr" rtl="0">
              <a:lnSpc>
                <a:spcPts val="2550"/>
              </a:lnSpc>
            </a:pPr>
            <a:r>
              <a:rPr lang="en-US" sz="2400"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9104" name="LogoGi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5791" y="4846858"/>
            <a:ext cx="700000" cy="70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94904C-908D-05CE-3309-78E3BB4C6C9B}"/>
              </a:ext>
            </a:extLst>
          </p:cNvPr>
          <p:cNvSpPr txBox="1"/>
          <p:nvPr/>
        </p:nvSpPr>
        <p:spPr>
          <a:xfrm>
            <a:off x="668216" y="4964723"/>
            <a:ext cx="1309077" cy="469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solidFill>
                  <a:srgbClr val="FFFFFF"/>
                </a:solidFill>
                <a:latin typeface="Poppins SemiBold"/>
                <a:cs typeface="Segoe UI"/>
              </a:rPr>
              <a:t>Autres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61B84-8D5C-768A-C855-E6FF943BC0D6}"/>
              </a:ext>
            </a:extLst>
          </p:cNvPr>
          <p:cNvSpPr txBox="1"/>
          <p:nvPr/>
        </p:nvSpPr>
        <p:spPr>
          <a:xfrm>
            <a:off x="1680307" y="1525954"/>
            <a:ext cx="1219201" cy="8976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550"/>
              </a:lnSpc>
            </a:pPr>
            <a:r>
              <a:rPr lang="en-US" sz="2400" err="1">
                <a:solidFill>
                  <a:srgbClr val="FFFFFF"/>
                </a:solidFill>
                <a:latin typeface="Poppins SemiBold"/>
                <a:cs typeface="Segoe UI"/>
              </a:rPr>
              <a:t>Inteliji</a:t>
            </a:r>
            <a:endParaRPr lang="en-US" err="1"/>
          </a:p>
          <a:p>
            <a:pPr algn="ctr" rtl="0">
              <a:lnSpc>
                <a:spcPts val="1950"/>
              </a:lnSpc>
            </a:pPr>
            <a:r>
              <a:rPr lang="en-US" sz="1800"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8F09769-F4FA-075F-FE43-0E84802EAB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1694" y="4823460"/>
            <a:ext cx="659292" cy="815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>
          <a:extLst>
            <a:ext uri="{FF2B5EF4-FFF2-40B4-BE49-F238E27FC236}">
              <a16:creationId xmlns:a16="http://schemas.microsoft.com/office/drawing/2014/main" id="{2CB2D019-DC03-52CF-7AFC-4BEA87C1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>
            <a:extLst>
              <a:ext uri="{FF2B5EF4-FFF2-40B4-BE49-F238E27FC236}">
                <a16:creationId xmlns:a16="http://schemas.microsoft.com/office/drawing/2014/main" id="{87DF8160-458B-4E50-CB6F-85A09823EC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66" y="128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Rectangle: Rounded Corners 3">
            <a:extLst>
              <a:ext uri="{FF2B5EF4-FFF2-40B4-BE49-F238E27FC236}">
                <a16:creationId xmlns:a16="http://schemas.microsoft.com/office/drawing/2014/main" id="{D54BE49C-1409-69AB-A2E0-B80D29CBE49B}"/>
              </a:ext>
            </a:extLst>
          </p:cNvPr>
          <p:cNvSpPr/>
          <p:nvPr/>
        </p:nvSpPr>
        <p:spPr>
          <a:xfrm>
            <a:off x="4825912" y="2615095"/>
            <a:ext cx="7038304" cy="4106188"/>
          </a:xfrm>
          <a:prstGeom prst="roundRect">
            <a:avLst/>
          </a:prstGeom>
          <a:solidFill>
            <a:srgbClr val="82828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000">
                <a:solidFill>
                  <a:schemeClr val="bg1"/>
                </a:solidFill>
                <a:latin typeface="Poppins"/>
                <a:cs typeface="Poppins"/>
              </a:rPr>
              <a:t>Back-end</a:t>
            </a:r>
          </a:p>
        </p:txBody>
      </p:sp>
      <p:sp>
        <p:nvSpPr>
          <p:cNvPr id="20" name="Rectangle: Rounded Corners 3">
            <a:extLst>
              <a:ext uri="{FF2B5EF4-FFF2-40B4-BE49-F238E27FC236}">
                <a16:creationId xmlns:a16="http://schemas.microsoft.com/office/drawing/2014/main" id="{42D36437-760C-731A-A2B9-B9D3CC885028}"/>
              </a:ext>
            </a:extLst>
          </p:cNvPr>
          <p:cNvSpPr/>
          <p:nvPr/>
        </p:nvSpPr>
        <p:spPr>
          <a:xfrm>
            <a:off x="1660231" y="1135573"/>
            <a:ext cx="10201788" cy="1482043"/>
          </a:xfrm>
          <a:prstGeom prst="roundRect">
            <a:avLst/>
          </a:prstGeom>
          <a:solidFill>
            <a:srgbClr val="749FD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000">
                <a:solidFill>
                  <a:schemeClr val="bg1"/>
                </a:solidFill>
                <a:latin typeface="Poppins"/>
                <a:cs typeface="Poppins"/>
              </a:rPr>
              <a:t>Vue</a:t>
            </a:r>
            <a:endParaRPr lang="fr-FR" sz="20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14D35F-B6B3-740E-5AFB-AE8D178E1EE6}"/>
              </a:ext>
            </a:extLst>
          </p:cNvPr>
          <p:cNvSpPr/>
          <p:nvPr/>
        </p:nvSpPr>
        <p:spPr>
          <a:xfrm>
            <a:off x="6425842" y="1276475"/>
            <a:ext cx="5199958" cy="604047"/>
          </a:xfrm>
          <a:prstGeom prst="roundRect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  <a:latin typeface="Poppins"/>
                <a:cs typeface="Poppins"/>
              </a:rPr>
              <a:t>Front-End</a:t>
            </a:r>
            <a:endParaRPr lang="fr-FR" sz="16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77FF34-4A14-01B0-BACC-F3CAA0ACE938}"/>
              </a:ext>
            </a:extLst>
          </p:cNvPr>
          <p:cNvSpPr/>
          <p:nvPr/>
        </p:nvSpPr>
        <p:spPr>
          <a:xfrm>
            <a:off x="6425375" y="2322787"/>
            <a:ext cx="5197444" cy="59238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>
                <a:latin typeface="Poppins"/>
                <a:cs typeface="Poppins"/>
              </a:rPr>
              <a:t>Controller</a:t>
            </a:r>
            <a:endParaRPr lang="fr-FR" sz="2000">
              <a:latin typeface="Poppins"/>
              <a:cs typeface="Poppin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C13CE-563A-D562-A01D-C99621FA2DDC}"/>
              </a:ext>
            </a:extLst>
          </p:cNvPr>
          <p:cNvSpPr/>
          <p:nvPr/>
        </p:nvSpPr>
        <p:spPr>
          <a:xfrm>
            <a:off x="6447067" y="3398196"/>
            <a:ext cx="5188934" cy="5809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>
                <a:latin typeface="Poppins"/>
                <a:cs typeface="Poppins"/>
              </a:rPr>
              <a:t>Service</a:t>
            </a:r>
            <a:endParaRPr lang="fr-FR" sz="2000">
              <a:latin typeface="Poppins"/>
              <a:cs typeface="Poppin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2A2478-311D-1759-8320-742693DF06B0}"/>
              </a:ext>
            </a:extLst>
          </p:cNvPr>
          <p:cNvSpPr/>
          <p:nvPr/>
        </p:nvSpPr>
        <p:spPr>
          <a:xfrm>
            <a:off x="6434643" y="4495995"/>
            <a:ext cx="5188932" cy="590991"/>
          </a:xfrm>
          <a:prstGeom prst="roundRect">
            <a:avLst/>
          </a:prstGeom>
          <a:solidFill>
            <a:schemeClr val="accent4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>
                <a:latin typeface="Poppins"/>
                <a:cs typeface="Poppins"/>
              </a:rPr>
              <a:t>DAO</a:t>
            </a:r>
            <a:endParaRPr lang="fr-FR" sz="1800">
              <a:latin typeface="Poppins"/>
              <a:cs typeface="Poppin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56B924-CCA0-1F30-BCE8-6B1DF85A1DBA}"/>
              </a:ext>
            </a:extLst>
          </p:cNvPr>
          <p:cNvSpPr/>
          <p:nvPr/>
        </p:nvSpPr>
        <p:spPr>
          <a:xfrm>
            <a:off x="6409508" y="5569706"/>
            <a:ext cx="5210215" cy="57756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>
                <a:latin typeface="Poppins"/>
                <a:ea typeface="+mn-lt"/>
                <a:cs typeface="Poppins"/>
              </a:rPr>
              <a:t>Base de données</a:t>
            </a:r>
            <a:endParaRPr lang="en-US" sz="2000">
              <a:latin typeface="Poppins"/>
              <a:cs typeface="Poppins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D08BA68-8CD0-FF41-72D3-D131531EF1FF}"/>
              </a:ext>
            </a:extLst>
          </p:cNvPr>
          <p:cNvSpPr/>
          <p:nvPr/>
        </p:nvSpPr>
        <p:spPr>
          <a:xfrm>
            <a:off x="8629414" y="1952107"/>
            <a:ext cx="797781" cy="33871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2C16A46-90B8-E079-1CAE-838D344BB10D}"/>
              </a:ext>
            </a:extLst>
          </p:cNvPr>
          <p:cNvSpPr/>
          <p:nvPr/>
        </p:nvSpPr>
        <p:spPr>
          <a:xfrm>
            <a:off x="8620901" y="2977912"/>
            <a:ext cx="814808" cy="33446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D877D2F-787A-4CB1-54D2-53065392C1B0}"/>
              </a:ext>
            </a:extLst>
          </p:cNvPr>
          <p:cNvSpPr/>
          <p:nvPr/>
        </p:nvSpPr>
        <p:spPr>
          <a:xfrm>
            <a:off x="8621654" y="4057316"/>
            <a:ext cx="806296" cy="330202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0EDD210-49D3-8022-7D65-8A3B8252EBF4}"/>
              </a:ext>
            </a:extLst>
          </p:cNvPr>
          <p:cNvSpPr/>
          <p:nvPr/>
        </p:nvSpPr>
        <p:spPr>
          <a:xfrm>
            <a:off x="8634426" y="5189936"/>
            <a:ext cx="793523" cy="325945"/>
          </a:xfrm>
          <a:prstGeom prst="downArrow">
            <a:avLst/>
          </a:prstGeom>
          <a:solidFill>
            <a:schemeClr val="accent4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Google Shape;231;p21">
            <a:extLst>
              <a:ext uri="{FF2B5EF4-FFF2-40B4-BE49-F238E27FC236}">
                <a16:creationId xmlns:a16="http://schemas.microsoft.com/office/drawing/2014/main" id="{33995A05-9238-92C7-D187-5481EF7859B5}"/>
              </a:ext>
            </a:extLst>
          </p:cNvPr>
          <p:cNvSpPr txBox="1"/>
          <p:nvPr/>
        </p:nvSpPr>
        <p:spPr>
          <a:xfrm>
            <a:off x="85886" y="3910853"/>
            <a:ext cx="18953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err="1">
                <a:solidFill>
                  <a:schemeClr val="tx1"/>
                </a:solidFill>
                <a:latin typeface="Poppins SemiBold"/>
                <a:ea typeface="Calibri"/>
                <a:cs typeface="Poppins SemiBold"/>
              </a:rPr>
              <a:t>Utilisateurs</a:t>
            </a:r>
            <a:endParaRPr lang="en-US" sz="2000" b="1">
              <a:solidFill>
                <a:schemeClr val="tx1"/>
              </a:solidFill>
              <a:latin typeface="Poppins SemiBold"/>
              <a:cs typeface="Poppins SemiBold"/>
            </a:endParaRPr>
          </a:p>
        </p:txBody>
      </p:sp>
      <p:sp>
        <p:nvSpPr>
          <p:cNvPr id="18" name="Arrow: Down 8">
            <a:extLst>
              <a:ext uri="{FF2B5EF4-FFF2-40B4-BE49-F238E27FC236}">
                <a16:creationId xmlns:a16="http://schemas.microsoft.com/office/drawing/2014/main" id="{E0A3D2DA-ED4C-528D-3D9E-41414D570D37}"/>
              </a:ext>
            </a:extLst>
          </p:cNvPr>
          <p:cNvSpPr/>
          <p:nvPr/>
        </p:nvSpPr>
        <p:spPr>
          <a:xfrm>
            <a:off x="2626688" y="2701570"/>
            <a:ext cx="421876" cy="3154325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Google Shape;231;p21">
            <a:extLst>
              <a:ext uri="{FF2B5EF4-FFF2-40B4-BE49-F238E27FC236}">
                <a16:creationId xmlns:a16="http://schemas.microsoft.com/office/drawing/2014/main" id="{0036E21C-FF8E-38DB-E969-E2EEE98A6777}"/>
              </a:ext>
            </a:extLst>
          </p:cNvPr>
          <p:cNvSpPr txBox="1"/>
          <p:nvPr/>
        </p:nvSpPr>
        <p:spPr>
          <a:xfrm>
            <a:off x="3488383" y="5912628"/>
            <a:ext cx="12400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Poppins SemiBold"/>
                <a:ea typeface="Calibri"/>
                <a:cs typeface="Poppins SemiBold"/>
              </a:rPr>
              <a:t>Réponse</a:t>
            </a:r>
          </a:p>
        </p:txBody>
      </p:sp>
      <p:sp>
        <p:nvSpPr>
          <p:cNvPr id="21" name="Google Shape;231;p21">
            <a:extLst>
              <a:ext uri="{FF2B5EF4-FFF2-40B4-BE49-F238E27FC236}">
                <a16:creationId xmlns:a16="http://schemas.microsoft.com/office/drawing/2014/main" id="{A6CE7582-8BDE-5CF9-7B62-8CA7874A29DD}"/>
              </a:ext>
            </a:extLst>
          </p:cNvPr>
          <p:cNvSpPr txBox="1"/>
          <p:nvPr/>
        </p:nvSpPr>
        <p:spPr>
          <a:xfrm>
            <a:off x="2271139" y="5912301"/>
            <a:ext cx="1133931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err="1">
                <a:solidFill>
                  <a:schemeClr val="tx1"/>
                </a:solidFill>
                <a:latin typeface="Poppins SemiBold"/>
                <a:ea typeface="Calibri"/>
                <a:cs typeface="Poppins SemiBold"/>
              </a:rPr>
              <a:t>Requête</a:t>
            </a:r>
          </a:p>
        </p:txBody>
      </p:sp>
      <p:sp>
        <p:nvSpPr>
          <p:cNvPr id="32" name="Google Shape;194;p18">
            <a:extLst>
              <a:ext uri="{FF2B5EF4-FFF2-40B4-BE49-F238E27FC236}">
                <a16:creationId xmlns:a16="http://schemas.microsoft.com/office/drawing/2014/main" id="{78E75CD6-A1ED-41B4-502D-2BE4EB6029CE}"/>
              </a:ext>
            </a:extLst>
          </p:cNvPr>
          <p:cNvSpPr txBox="1"/>
          <p:nvPr/>
        </p:nvSpPr>
        <p:spPr>
          <a:xfrm>
            <a:off x="763229" y="588461"/>
            <a:ext cx="99764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6. </a:t>
            </a:r>
            <a:r>
              <a:rPr lang="en-US" sz="3200" b="1" u="sng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Architecture de 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cs typeface="Poppins"/>
                <a:sym typeface="Poppins"/>
              </a:rPr>
              <a:t>l'application</a:t>
            </a:r>
            <a:endParaRPr lang="fr-FR" sz="3200"/>
          </a:p>
        </p:txBody>
      </p:sp>
      <p:sp>
        <p:nvSpPr>
          <p:cNvPr id="37" name="Google Shape;177;p17">
            <a:extLst>
              <a:ext uri="{FF2B5EF4-FFF2-40B4-BE49-F238E27FC236}">
                <a16:creationId xmlns:a16="http://schemas.microsoft.com/office/drawing/2014/main" id="{E44610FB-A2C1-F3AB-DA47-953367D31DAB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Organigramme : Connecteur 35">
            <a:extLst>
              <a:ext uri="{FF2B5EF4-FFF2-40B4-BE49-F238E27FC236}">
                <a16:creationId xmlns:a16="http://schemas.microsoft.com/office/drawing/2014/main" id="{8DFFC627-0134-0EC6-1EB4-6EC20C1B8BEB}"/>
              </a:ext>
            </a:extLst>
          </p:cNvPr>
          <p:cNvSpPr/>
          <p:nvPr/>
        </p:nvSpPr>
        <p:spPr>
          <a:xfrm>
            <a:off x="830373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E7148-F788-73EE-E08B-50E4DB727A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29001" y="636034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38" name="Arrow: Down 8">
            <a:extLst>
              <a:ext uri="{FF2B5EF4-FFF2-40B4-BE49-F238E27FC236}">
                <a16:creationId xmlns:a16="http://schemas.microsoft.com/office/drawing/2014/main" id="{04229750-8FCC-80F8-AE40-29FD0C01305E}"/>
              </a:ext>
            </a:extLst>
          </p:cNvPr>
          <p:cNvSpPr/>
          <p:nvPr/>
        </p:nvSpPr>
        <p:spPr>
          <a:xfrm rot="10800000">
            <a:off x="3897970" y="2700401"/>
            <a:ext cx="421876" cy="3167096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9C7275-DC98-6F88-A9BB-BC4532756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55" y="3394355"/>
            <a:ext cx="734758" cy="7517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464F37-A967-4CD8-EBB6-6D3479D1F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180" y="1806383"/>
            <a:ext cx="811382" cy="8071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A381BD-0733-36D1-0181-27E9AD919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180" y="1716916"/>
            <a:ext cx="704957" cy="747526"/>
          </a:xfrm>
          <a:prstGeom prst="rect">
            <a:avLst/>
          </a:prstGeom>
        </p:spPr>
      </p:pic>
      <p:sp>
        <p:nvSpPr>
          <p:cNvPr id="24" name="Arrow: Bent 23">
            <a:extLst>
              <a:ext uri="{FF2B5EF4-FFF2-40B4-BE49-F238E27FC236}">
                <a16:creationId xmlns:a16="http://schemas.microsoft.com/office/drawing/2014/main" id="{5ACBEA62-BC21-375D-C79B-69AAC18F19FF}"/>
              </a:ext>
            </a:extLst>
          </p:cNvPr>
          <p:cNvSpPr/>
          <p:nvPr/>
        </p:nvSpPr>
        <p:spPr>
          <a:xfrm>
            <a:off x="939098" y="1698878"/>
            <a:ext cx="660119" cy="1728036"/>
          </a:xfrm>
          <a:prstGeom prst="bentArrow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32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Fonctionnement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 du </a:t>
            </a:r>
            <a:r>
              <a:rPr lang="en-US" sz="3200" b="1" i="0" u="sng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groupe</a:t>
            </a:r>
            <a:endParaRPr lang="en-US" sz="3200" u="sng" err="1"/>
          </a:p>
        </p:txBody>
      </p:sp>
      <p:sp>
        <p:nvSpPr>
          <p:cNvPr id="223" name="Google Shape;223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8DE2FC-2DF1-96E6-0AD3-C8D5B6623F69}"/>
              </a:ext>
            </a:extLst>
          </p:cNvPr>
          <p:cNvSpPr/>
          <p:nvPr/>
        </p:nvSpPr>
        <p:spPr>
          <a:xfrm>
            <a:off x="845820" y="1714500"/>
            <a:ext cx="2302136" cy="34594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veiller à</a:t>
            </a:r>
          </a:p>
        </p:txBody>
      </p:sp>
      <p:pic>
        <p:nvPicPr>
          <p:cNvPr id="3" name="Picture 2" descr="A red and black logo  AI-generated content may be incorrect.">
            <a:extLst>
              <a:ext uri="{FF2B5EF4-FFF2-40B4-BE49-F238E27FC236}">
                <a16:creationId xmlns:a16="http://schemas.microsoft.com/office/drawing/2014/main" id="{DA35F9CE-5C6F-3B6D-8F32-80E4B20C7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40" y="2694622"/>
            <a:ext cx="1112520" cy="4705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CEBE1A-AAEE-C3BA-874D-B85E5E7A1AFF}"/>
              </a:ext>
            </a:extLst>
          </p:cNvPr>
          <p:cNvSpPr/>
          <p:nvPr/>
        </p:nvSpPr>
        <p:spPr>
          <a:xfrm>
            <a:off x="3569596" y="1681901"/>
            <a:ext cx="2302136" cy="348936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996CE-7094-64DD-E1AB-2893E3F7D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2514600"/>
            <a:ext cx="822960" cy="82296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C4F69F-380A-69B3-2E48-D138BF909688}"/>
              </a:ext>
            </a:extLst>
          </p:cNvPr>
          <p:cNvSpPr/>
          <p:nvPr/>
        </p:nvSpPr>
        <p:spPr>
          <a:xfrm>
            <a:off x="6306669" y="1684618"/>
            <a:ext cx="2302584" cy="3489362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computer screen with a gear on it  AI-generated content may be incorrect.">
            <a:extLst>
              <a:ext uri="{FF2B5EF4-FFF2-40B4-BE49-F238E27FC236}">
                <a16:creationId xmlns:a16="http://schemas.microsoft.com/office/drawing/2014/main" id="{C12F1052-F6AF-87FB-447A-E6F894B0C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894" y="2469328"/>
            <a:ext cx="899160" cy="86868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7A89DA-5678-4F4C-6BF0-01EEAE0AAEDA}"/>
              </a:ext>
            </a:extLst>
          </p:cNvPr>
          <p:cNvSpPr/>
          <p:nvPr/>
        </p:nvSpPr>
        <p:spPr>
          <a:xfrm>
            <a:off x="9046433" y="1684618"/>
            <a:ext cx="2302136" cy="3489362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group of people sitting at a table  AI-generated content may be incorrect.">
            <a:extLst>
              <a:ext uri="{FF2B5EF4-FFF2-40B4-BE49-F238E27FC236}">
                <a16:creationId xmlns:a16="http://schemas.microsoft.com/office/drawing/2014/main" id="{4E927CBD-10BE-7EDC-EFD5-69AFCFBB44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492" y="2515048"/>
            <a:ext cx="784860" cy="777240"/>
          </a:xfrm>
          <a:prstGeom prst="rect">
            <a:avLst/>
          </a:prstGeom>
        </p:spPr>
      </p:pic>
      <p:sp>
        <p:nvSpPr>
          <p:cNvPr id="14" name="Google Shape;152;p16">
            <a:extLst>
              <a:ext uri="{FF2B5EF4-FFF2-40B4-BE49-F238E27FC236}">
                <a16:creationId xmlns:a16="http://schemas.microsoft.com/office/drawing/2014/main" id="{64052331-C29A-0F44-0005-A92DE51A2CFD}"/>
              </a:ext>
            </a:extLst>
          </p:cNvPr>
          <p:cNvSpPr txBox="1"/>
          <p:nvPr/>
        </p:nvSpPr>
        <p:spPr>
          <a:xfrm>
            <a:off x="843100" y="1958436"/>
            <a:ext cx="24839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Git maintainer</a:t>
            </a:r>
            <a:endParaRPr lang="en-US" sz="2400" b="1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15" name="Google Shape;152;p16">
            <a:extLst>
              <a:ext uri="{FF2B5EF4-FFF2-40B4-BE49-F238E27FC236}">
                <a16:creationId xmlns:a16="http://schemas.microsoft.com/office/drawing/2014/main" id="{D77DE912-FC7A-4B97-3635-6DF1C054A021}"/>
              </a:ext>
            </a:extLst>
          </p:cNvPr>
          <p:cNvSpPr txBox="1"/>
          <p:nvPr/>
        </p:nvSpPr>
        <p:spPr>
          <a:xfrm>
            <a:off x="3862381" y="1958436"/>
            <a:ext cx="18069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Front-end</a:t>
            </a:r>
            <a:endParaRPr lang="en-US" sz="240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16" name="Google Shape;152;p16">
            <a:extLst>
              <a:ext uri="{FF2B5EF4-FFF2-40B4-BE49-F238E27FC236}">
                <a16:creationId xmlns:a16="http://schemas.microsoft.com/office/drawing/2014/main" id="{F8FD88F6-AC7A-AFDD-0513-F2C455CB14A0}"/>
              </a:ext>
            </a:extLst>
          </p:cNvPr>
          <p:cNvSpPr txBox="1"/>
          <p:nvPr/>
        </p:nvSpPr>
        <p:spPr>
          <a:xfrm>
            <a:off x="6641167" y="1958436"/>
            <a:ext cx="17253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Back-end</a:t>
            </a:r>
            <a:endParaRPr lang="en-US" sz="240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17" name="Google Shape;152;p16">
            <a:extLst>
              <a:ext uri="{FF2B5EF4-FFF2-40B4-BE49-F238E27FC236}">
                <a16:creationId xmlns:a16="http://schemas.microsoft.com/office/drawing/2014/main" id="{0FDAB973-C881-1FA9-8957-4A44FFE2FD67}"/>
              </a:ext>
            </a:extLst>
          </p:cNvPr>
          <p:cNvSpPr txBox="1"/>
          <p:nvPr/>
        </p:nvSpPr>
        <p:spPr>
          <a:xfrm>
            <a:off x="9229880" y="1838514"/>
            <a:ext cx="1938969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000" b="1">
                <a:solidFill>
                  <a:schemeClr val="tx1"/>
                </a:solidFill>
                <a:latin typeface="Poppins"/>
                <a:ea typeface="Calibri"/>
                <a:cs typeface="Poppins"/>
                <a:sym typeface="Poppins"/>
              </a:rPr>
              <a:t>Meeting management</a:t>
            </a:r>
            <a:endParaRPr lang="en-US" sz="1600" b="1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18" name="Google Shape;152;p16">
            <a:extLst>
              <a:ext uri="{FF2B5EF4-FFF2-40B4-BE49-F238E27FC236}">
                <a16:creationId xmlns:a16="http://schemas.microsoft.com/office/drawing/2014/main" id="{F2E1D2D7-F593-A5EB-9B5B-92CB816BB581}"/>
              </a:ext>
            </a:extLst>
          </p:cNvPr>
          <p:cNvSpPr txBox="1"/>
          <p:nvPr/>
        </p:nvSpPr>
        <p:spPr>
          <a:xfrm>
            <a:off x="874683" y="4078232"/>
            <a:ext cx="26761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 - La </a:t>
            </a:r>
            <a:r>
              <a:rPr lang="en-US" sz="16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qualité</a:t>
            </a:r>
            <a:endParaRPr lang="en-US" sz="1600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  <a:p>
            <a:r>
              <a:rPr lang="en-US" sz="16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 - La </a:t>
            </a:r>
            <a:r>
              <a:rPr lang="en-US" sz="16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stabilité</a:t>
            </a:r>
            <a:endParaRPr lang="en-US" sz="1600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  <a:p>
            <a:r>
              <a:rPr lang="en-US" sz="16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 - La bonne </a:t>
            </a:r>
            <a:r>
              <a:rPr lang="en-US" sz="16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évolution</a:t>
            </a:r>
            <a:endParaRPr lang="en-US" sz="1600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19" name="Google Shape;152;p16">
            <a:extLst>
              <a:ext uri="{FF2B5EF4-FFF2-40B4-BE49-F238E27FC236}">
                <a16:creationId xmlns:a16="http://schemas.microsoft.com/office/drawing/2014/main" id="{520C4063-9190-A7E7-2114-69AE3D19B012}"/>
              </a:ext>
            </a:extLst>
          </p:cNvPr>
          <p:cNvSpPr txBox="1"/>
          <p:nvPr/>
        </p:nvSpPr>
        <p:spPr>
          <a:xfrm>
            <a:off x="910589" y="3606164"/>
            <a:ext cx="18326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Veille à:</a:t>
            </a:r>
          </a:p>
        </p:txBody>
      </p:sp>
      <p:sp>
        <p:nvSpPr>
          <p:cNvPr id="20" name="Google Shape;152;p16">
            <a:extLst>
              <a:ext uri="{FF2B5EF4-FFF2-40B4-BE49-F238E27FC236}">
                <a16:creationId xmlns:a16="http://schemas.microsoft.com/office/drawing/2014/main" id="{AD8694FD-F092-E712-1C06-B38252AD25A2}"/>
              </a:ext>
            </a:extLst>
          </p:cNvPr>
          <p:cNvSpPr txBox="1"/>
          <p:nvPr/>
        </p:nvSpPr>
        <p:spPr>
          <a:xfrm>
            <a:off x="3798569" y="3606164"/>
            <a:ext cx="18326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S'occupe</a:t>
            </a:r>
            <a:r>
              <a:rPr lang="en-US" sz="20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de:</a:t>
            </a:r>
          </a:p>
        </p:txBody>
      </p:sp>
      <p:sp>
        <p:nvSpPr>
          <p:cNvPr id="21" name="Google Shape;152;p16">
            <a:extLst>
              <a:ext uri="{FF2B5EF4-FFF2-40B4-BE49-F238E27FC236}">
                <a16:creationId xmlns:a16="http://schemas.microsoft.com/office/drawing/2014/main" id="{05745813-B224-FF35-5C8F-7ECFD7274B7D}"/>
              </a:ext>
            </a:extLst>
          </p:cNvPr>
          <p:cNvSpPr txBox="1"/>
          <p:nvPr/>
        </p:nvSpPr>
        <p:spPr>
          <a:xfrm>
            <a:off x="3696372" y="4253565"/>
            <a:ext cx="195253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- Partie visible</a:t>
            </a:r>
          </a:p>
          <a:p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- Interactive</a:t>
            </a:r>
          </a:p>
        </p:txBody>
      </p:sp>
      <p:sp>
        <p:nvSpPr>
          <p:cNvPr id="22" name="Google Shape;152;p16">
            <a:extLst>
              <a:ext uri="{FF2B5EF4-FFF2-40B4-BE49-F238E27FC236}">
                <a16:creationId xmlns:a16="http://schemas.microsoft.com/office/drawing/2014/main" id="{C895057C-A690-7D33-24B2-11A9D2C535F0}"/>
              </a:ext>
            </a:extLst>
          </p:cNvPr>
          <p:cNvSpPr txBox="1"/>
          <p:nvPr/>
        </p:nvSpPr>
        <p:spPr>
          <a:xfrm>
            <a:off x="6589730" y="3606164"/>
            <a:ext cx="18326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S'occupe</a:t>
            </a:r>
            <a:r>
              <a:rPr lang="en-US" sz="20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de:</a:t>
            </a:r>
          </a:p>
        </p:txBody>
      </p:sp>
      <p:sp>
        <p:nvSpPr>
          <p:cNvPr id="23" name="Google Shape;152;p16">
            <a:extLst>
              <a:ext uri="{FF2B5EF4-FFF2-40B4-BE49-F238E27FC236}">
                <a16:creationId xmlns:a16="http://schemas.microsoft.com/office/drawing/2014/main" id="{0E20A415-AC39-B6A1-37D2-07B69087129E}"/>
              </a:ext>
            </a:extLst>
          </p:cNvPr>
          <p:cNvSpPr txBox="1"/>
          <p:nvPr/>
        </p:nvSpPr>
        <p:spPr>
          <a:xfrm>
            <a:off x="9092527" y="3606164"/>
            <a:ext cx="22060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A pour </a:t>
            </a:r>
            <a:r>
              <a:rPr lang="en-US" sz="2000" i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objectif</a:t>
            </a:r>
            <a:r>
              <a:rPr lang="en-US" sz="2000" i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:</a:t>
            </a:r>
          </a:p>
        </p:txBody>
      </p:sp>
      <p:sp>
        <p:nvSpPr>
          <p:cNvPr id="24" name="Google Shape;152;p16">
            <a:extLst>
              <a:ext uri="{FF2B5EF4-FFF2-40B4-BE49-F238E27FC236}">
                <a16:creationId xmlns:a16="http://schemas.microsoft.com/office/drawing/2014/main" id="{C55EFB57-83CC-C557-E586-B071E82A5316}"/>
              </a:ext>
            </a:extLst>
          </p:cNvPr>
          <p:cNvSpPr txBox="1"/>
          <p:nvPr/>
        </p:nvSpPr>
        <p:spPr>
          <a:xfrm>
            <a:off x="2457204" y="5686298"/>
            <a:ext cx="46215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u="sng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Outils</a:t>
            </a:r>
            <a:r>
              <a:rPr lang="en-US" sz="2400" b="1" u="sng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de communication</a:t>
            </a:r>
            <a:r>
              <a:rPr lang="en-US" sz="24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: </a:t>
            </a:r>
            <a:endParaRPr lang="fr-FR" sz="240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28" name="Google Shape;152;p16">
            <a:extLst>
              <a:ext uri="{FF2B5EF4-FFF2-40B4-BE49-F238E27FC236}">
                <a16:creationId xmlns:a16="http://schemas.microsoft.com/office/drawing/2014/main" id="{76CB1BB5-C268-E90E-2B19-02FD5FE3A5E2}"/>
              </a:ext>
            </a:extLst>
          </p:cNvPr>
          <p:cNvSpPr txBox="1"/>
          <p:nvPr/>
        </p:nvSpPr>
        <p:spPr>
          <a:xfrm>
            <a:off x="6464971" y="4253565"/>
            <a:ext cx="205475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- La </a:t>
            </a:r>
            <a:r>
              <a:rPr lang="en-US" sz="20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mécanique</a:t>
            </a:r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invisible</a:t>
            </a:r>
            <a:endParaRPr lang="en-US" sz="1600">
              <a:solidFill>
                <a:schemeClr val="tx1"/>
              </a:solidFill>
              <a:latin typeface="Poppins"/>
              <a:ea typeface="Calibri"/>
              <a:cs typeface="Poppins"/>
            </a:endParaRPr>
          </a:p>
        </p:txBody>
      </p:sp>
      <p:sp>
        <p:nvSpPr>
          <p:cNvPr id="29" name="Google Shape;152;p16">
            <a:extLst>
              <a:ext uri="{FF2B5EF4-FFF2-40B4-BE49-F238E27FC236}">
                <a16:creationId xmlns:a16="http://schemas.microsoft.com/office/drawing/2014/main" id="{C662D343-4CD0-0D39-515D-F40F59C84451}"/>
              </a:ext>
            </a:extLst>
          </p:cNvPr>
          <p:cNvSpPr txBox="1"/>
          <p:nvPr/>
        </p:nvSpPr>
        <p:spPr>
          <a:xfrm>
            <a:off x="9227336" y="4254793"/>
            <a:ext cx="188794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- </a:t>
            </a:r>
            <a:r>
              <a:rPr lang="en-US" sz="2000" err="1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Gardien</a:t>
            </a:r>
            <a:r>
              <a:rPr lang="en-US" sz="2000">
                <a:solidFill>
                  <a:schemeClr val="tx1"/>
                </a:solidFill>
                <a:latin typeface="Poppins"/>
                <a:ea typeface="Calibri"/>
                <a:cs typeface="Poppins"/>
              </a:rPr>
              <a:t> de l'objectif </a:t>
            </a:r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id="{7577C058-B9C5-3CBF-8C34-EF2A25040E64}"/>
              </a:ext>
            </a:extLst>
          </p:cNvPr>
          <p:cNvSpPr/>
          <p:nvPr/>
        </p:nvSpPr>
        <p:spPr>
          <a:xfrm>
            <a:off x="8303736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497EA2-B58B-11AB-A294-F64C84CD52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40767" y="635635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26" name="Image 25" descr="Une image contenant clipart, dessin humoristique, art  Le contenu généré par l’IA peut être incorrect.">
            <a:extLst>
              <a:ext uri="{FF2B5EF4-FFF2-40B4-BE49-F238E27FC236}">
                <a16:creationId xmlns:a16="http://schemas.microsoft.com/office/drawing/2014/main" id="{F08FD3FD-E27D-05A6-6B96-6DACA853A5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7450" y="5599545"/>
            <a:ext cx="519825" cy="611910"/>
          </a:xfrm>
          <a:prstGeom prst="rect">
            <a:avLst/>
          </a:prstGeom>
        </p:spPr>
      </p:pic>
      <p:pic>
        <p:nvPicPr>
          <p:cNvPr id="27" name="Image 26" descr="Une image contenant Panneau de signalisation, symbole, signe  Le contenu généré par l’IA peut être incorrect.">
            <a:extLst>
              <a:ext uri="{FF2B5EF4-FFF2-40B4-BE49-F238E27FC236}">
                <a16:creationId xmlns:a16="http://schemas.microsoft.com/office/drawing/2014/main" id="{02C471F8-84B8-3FA4-A40F-76D4D782C8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364" y="5599545"/>
            <a:ext cx="531092" cy="542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>
          <a:extLst>
            <a:ext uri="{FF2B5EF4-FFF2-40B4-BE49-F238E27FC236}">
              <a16:creationId xmlns:a16="http://schemas.microsoft.com/office/drawing/2014/main" id="{C65091D0-587C-11C3-8D11-A41F24F2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>
            <a:extLst>
              <a:ext uri="{FF2B5EF4-FFF2-40B4-BE49-F238E27FC236}">
                <a16:creationId xmlns:a16="http://schemas.microsoft.com/office/drawing/2014/main" id="{8A9CEC36-CBDA-62E2-F4F1-415A97EFDA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391A3063-1CBA-C38B-3188-C7896ED1D1A9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Fonctionnement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 du </a:t>
            </a:r>
            <a:r>
              <a:rPr lang="en-US" sz="3200" b="1" i="0" u="sng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groupe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– Points forts</a:t>
            </a:r>
            <a:endParaRPr lang="en-US" sz="3200" b="1" i="0" u="sng" strike="noStrike" cap="none">
              <a:solidFill>
                <a:srgbClr val="5B3294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3" name="Google Shape;223;p20">
            <a:extLst>
              <a:ext uri="{FF2B5EF4-FFF2-40B4-BE49-F238E27FC236}">
                <a16:creationId xmlns:a16="http://schemas.microsoft.com/office/drawing/2014/main" id="{AFDAD714-82D3-9C5F-C2CF-2BDA3F8A0AE3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id="{F3A8E60A-6E05-8896-D18F-57EFC935CCE6}"/>
              </a:ext>
            </a:extLst>
          </p:cNvPr>
          <p:cNvSpPr/>
          <p:nvPr/>
        </p:nvSpPr>
        <p:spPr>
          <a:xfrm>
            <a:off x="8305257" y="6317567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332B8F-CC0D-A745-491C-4713D8226D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46926" y="6317605"/>
            <a:ext cx="2120686" cy="449073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158DBA-617D-3B3D-6F4B-FA2054978DBB}"/>
              </a:ext>
            </a:extLst>
          </p:cNvPr>
          <p:cNvSpPr txBox="1"/>
          <p:nvPr/>
        </p:nvSpPr>
        <p:spPr>
          <a:xfrm>
            <a:off x="2026920" y="5806440"/>
            <a:ext cx="12268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en-US" sz="2800" b="1">
                <a:solidFill>
                  <a:srgbClr val="C00000"/>
                </a:solidFill>
                <a:latin typeface="Poppins"/>
              </a:rPr>
              <a:t>Java</a:t>
            </a:r>
          </a:p>
        </p:txBody>
      </p:sp>
      <p:sp>
        <p:nvSpPr>
          <p:cNvPr id="11" name="Rectangle: Rounded Corners 7">
            <a:extLst>
              <a:ext uri="{FF2B5EF4-FFF2-40B4-BE49-F238E27FC236}">
                <a16:creationId xmlns:a16="http://schemas.microsoft.com/office/drawing/2014/main" id="{1E036E96-8375-0B93-097A-2F6865B5D131}"/>
              </a:ext>
            </a:extLst>
          </p:cNvPr>
          <p:cNvSpPr/>
          <p:nvPr/>
        </p:nvSpPr>
        <p:spPr>
          <a:xfrm>
            <a:off x="5829300" y="4373880"/>
            <a:ext cx="3201296" cy="1432560"/>
          </a:xfrm>
          <a:prstGeom prst="round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DEFD169-F8E0-E60C-ABD7-100A86502717}"/>
              </a:ext>
            </a:extLst>
          </p:cNvPr>
          <p:cNvSpPr txBox="1"/>
          <p:nvPr/>
        </p:nvSpPr>
        <p:spPr>
          <a:xfrm>
            <a:off x="5829300" y="5806440"/>
            <a:ext cx="32004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>
                <a:solidFill>
                  <a:srgbClr val="002060"/>
                </a:solidFill>
                <a:latin typeface="Poppins"/>
                <a:cs typeface="Poppins"/>
              </a:rPr>
              <a:t>Tests unitaires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1180D48A-DDA7-38CD-CC5F-D91325E04806}"/>
              </a:ext>
            </a:extLst>
          </p:cNvPr>
          <p:cNvSpPr/>
          <p:nvPr/>
        </p:nvSpPr>
        <p:spPr>
          <a:xfrm>
            <a:off x="2026920" y="4373880"/>
            <a:ext cx="3513716" cy="143256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14" name="Rectangle: Rounded Corners 7">
            <a:extLst>
              <a:ext uri="{FF2B5EF4-FFF2-40B4-BE49-F238E27FC236}">
                <a16:creationId xmlns:a16="http://schemas.microsoft.com/office/drawing/2014/main" id="{153FEAA6-EDC1-07B0-B74C-9C6B94E085A7}"/>
              </a:ext>
            </a:extLst>
          </p:cNvPr>
          <p:cNvSpPr/>
          <p:nvPr/>
        </p:nvSpPr>
        <p:spPr>
          <a:xfrm>
            <a:off x="2857499" y="2506980"/>
            <a:ext cx="5571116" cy="2781300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27F987A-047F-0BB3-293C-E12B61E17285}"/>
              </a:ext>
            </a:extLst>
          </p:cNvPr>
          <p:cNvSpPr txBox="1"/>
          <p:nvPr/>
        </p:nvSpPr>
        <p:spPr>
          <a:xfrm>
            <a:off x="4015740" y="1981200"/>
            <a:ext cx="24460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>
                <a:solidFill>
                  <a:srgbClr val="92D050"/>
                </a:solidFill>
                <a:latin typeface="Poppins"/>
              </a:rPr>
              <a:t>Spring MVC</a:t>
            </a:r>
            <a:endParaRPr lang="fr-FR" sz="2800">
              <a:solidFill>
                <a:srgbClr val="92D050"/>
              </a:solidFill>
            </a:endParaRPr>
          </a:p>
        </p:txBody>
      </p:sp>
      <p:sp>
        <p:nvSpPr>
          <p:cNvPr id="16" name="Rectangle: Rounded Corners 7">
            <a:extLst>
              <a:ext uri="{FF2B5EF4-FFF2-40B4-BE49-F238E27FC236}">
                <a16:creationId xmlns:a16="http://schemas.microsoft.com/office/drawing/2014/main" id="{58394B4A-1ED6-2EAA-3009-E8E403B550C0}"/>
              </a:ext>
            </a:extLst>
          </p:cNvPr>
          <p:cNvSpPr/>
          <p:nvPr/>
        </p:nvSpPr>
        <p:spPr>
          <a:xfrm>
            <a:off x="2148839" y="1592580"/>
            <a:ext cx="1829696" cy="369570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E933F20-DF17-CCE6-1738-8CCABA44A6AE}"/>
              </a:ext>
            </a:extLst>
          </p:cNvPr>
          <p:cNvSpPr txBox="1"/>
          <p:nvPr/>
        </p:nvSpPr>
        <p:spPr>
          <a:xfrm>
            <a:off x="2148840" y="1066800"/>
            <a:ext cx="17830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>
                <a:solidFill>
                  <a:srgbClr val="0070C0"/>
                </a:solidFill>
                <a:latin typeface="Poppins"/>
              </a:rPr>
              <a:t>Analyse</a:t>
            </a:r>
            <a:endParaRPr lang="fr-FR" sz="2800">
              <a:solidFill>
                <a:srgbClr val="0070C0"/>
              </a:solidFill>
            </a:endParaRPr>
          </a:p>
        </p:txBody>
      </p:sp>
      <p:sp>
        <p:nvSpPr>
          <p:cNvPr id="18" name="Rectangle: Rounded Corners 7">
            <a:extLst>
              <a:ext uri="{FF2B5EF4-FFF2-40B4-BE49-F238E27FC236}">
                <a16:creationId xmlns:a16="http://schemas.microsoft.com/office/drawing/2014/main" id="{7DAB91EB-C888-C7B4-1894-105B1C7904E2}"/>
              </a:ext>
            </a:extLst>
          </p:cNvPr>
          <p:cNvSpPr/>
          <p:nvPr/>
        </p:nvSpPr>
        <p:spPr>
          <a:xfrm>
            <a:off x="6408419" y="2217420"/>
            <a:ext cx="2774576" cy="800100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D45633-FDB5-6AF0-587F-CFD72CDA1DAB}"/>
              </a:ext>
            </a:extLst>
          </p:cNvPr>
          <p:cNvSpPr txBox="1"/>
          <p:nvPr/>
        </p:nvSpPr>
        <p:spPr>
          <a:xfrm>
            <a:off x="6408420" y="1775460"/>
            <a:ext cx="416052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>
                <a:solidFill>
                  <a:schemeClr val="accent6"/>
                </a:solidFill>
                <a:latin typeface="Poppins"/>
                <a:cs typeface="Poppins"/>
              </a:rPr>
              <a:t>Base de données</a:t>
            </a:r>
          </a:p>
        </p:txBody>
      </p:sp>
      <p:sp>
        <p:nvSpPr>
          <p:cNvPr id="20" name="Rectangle: Rounded Corners 7">
            <a:extLst>
              <a:ext uri="{FF2B5EF4-FFF2-40B4-BE49-F238E27FC236}">
                <a16:creationId xmlns:a16="http://schemas.microsoft.com/office/drawing/2014/main" id="{80F7171B-696F-6EBE-F08B-5A06B608ED32}"/>
              </a:ext>
            </a:extLst>
          </p:cNvPr>
          <p:cNvSpPr/>
          <p:nvPr/>
        </p:nvSpPr>
        <p:spPr>
          <a:xfrm>
            <a:off x="8542019" y="3520440"/>
            <a:ext cx="2972696" cy="662940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cs typeface="Arial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28068-446A-AD7F-64FB-DA05E9D5477D}"/>
              </a:ext>
            </a:extLst>
          </p:cNvPr>
          <p:cNvSpPr txBox="1"/>
          <p:nvPr/>
        </p:nvSpPr>
        <p:spPr>
          <a:xfrm>
            <a:off x="8542020" y="3017520"/>
            <a:ext cx="355092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>
                <a:solidFill>
                  <a:schemeClr val="accent4"/>
                </a:solidFill>
                <a:latin typeface="Poppins"/>
              </a:rPr>
              <a:t>Frontend – Vue</a:t>
            </a:r>
          </a:p>
          <a:p>
            <a:pPr algn="ctr"/>
            <a:endParaRPr lang="fr-FR" sz="1800">
              <a:solidFill>
                <a:schemeClr val="accent4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82E935F-946C-E157-C747-E378F6CD14C6}"/>
              </a:ext>
            </a:extLst>
          </p:cNvPr>
          <p:cNvSpPr txBox="1"/>
          <p:nvPr/>
        </p:nvSpPr>
        <p:spPr>
          <a:xfrm>
            <a:off x="2819400" y="2667000"/>
            <a:ext cx="1021080" cy="9925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3000"/>
              </a:lnSpc>
            </a:pPr>
            <a:r>
              <a:rPr lang="fr-FR" sz="2400" b="1">
                <a:solidFill>
                  <a:schemeClr val="tx1"/>
                </a:solidFill>
                <a:latin typeface="Poppins"/>
                <a:cs typeface="Segoe UI"/>
              </a:rPr>
              <a:t>Jean</a:t>
            </a:r>
            <a:endParaRPr lang="fr-FR" sz="1600">
              <a:solidFill>
                <a:schemeClr val="tx1"/>
              </a:solidFill>
            </a:endParaRPr>
          </a:p>
          <a:p>
            <a:pPr algn="ctr" rtl="0">
              <a:lnSpc>
                <a:spcPts val="2100"/>
              </a:lnSpc>
            </a:pPr>
            <a:r>
              <a:rPr lang="fr-FR" sz="1600" b="0" i="0">
                <a:solidFill>
                  <a:schemeClr val="tx1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fr-FR" sz="1600">
              <a:solidFill>
                <a:schemeClr val="tx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6129F09-C58E-E5B1-93BF-47F59BBA0D38}"/>
              </a:ext>
            </a:extLst>
          </p:cNvPr>
          <p:cNvSpPr txBox="1"/>
          <p:nvPr/>
        </p:nvSpPr>
        <p:spPr>
          <a:xfrm>
            <a:off x="2994660" y="4572000"/>
            <a:ext cx="868680" cy="14285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750"/>
              </a:lnSpc>
            </a:pPr>
            <a:r>
              <a:rPr lang="fr-FR" sz="2400" b="1">
                <a:latin typeface="Poppins"/>
                <a:cs typeface="Poppins"/>
              </a:rPr>
              <a:t>Loïs </a:t>
            </a:r>
          </a:p>
          <a:p>
            <a:pPr algn="ctr" rtl="0">
              <a:lnSpc>
                <a:spcPts val="2625"/>
              </a:lnSpc>
            </a:pPr>
            <a:r>
              <a:rPr lang="fr-FR" sz="1600" b="1" i="0" u="none" strike="noStrike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  <a:r>
              <a:rPr lang="en-US" sz="1600" b="1" i="0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algn="ctr" rtl="0">
              <a:lnSpc>
                <a:spcPts val="2100"/>
              </a:lnSpc>
            </a:pPr>
            <a:r>
              <a:rPr lang="fr-FR" sz="1600" b="1" i="0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algn="ctr"/>
            <a:endParaRPr lang="fr-FR" sz="1600" b="1">
              <a:latin typeface="Poppins"/>
              <a:cs typeface="Poppins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3FDA27E-CEF0-1377-78F6-59E2CF31EC31}"/>
              </a:ext>
            </a:extLst>
          </p:cNvPr>
          <p:cNvSpPr txBox="1"/>
          <p:nvPr/>
        </p:nvSpPr>
        <p:spPr>
          <a:xfrm>
            <a:off x="6408420" y="2476500"/>
            <a:ext cx="1158240" cy="5404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3750"/>
              </a:lnSpc>
            </a:pPr>
            <a:r>
              <a:rPr lang="fr-FR" sz="2400" b="1">
                <a:latin typeface="Poppins"/>
                <a:cs typeface="Segoe UI"/>
              </a:rPr>
              <a:t>Louis</a:t>
            </a:r>
            <a:endParaRPr lang="fr-FR" sz="240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9FE3F5D-BE4B-56CD-BCE4-FEA526430ED2}"/>
              </a:ext>
            </a:extLst>
          </p:cNvPr>
          <p:cNvSpPr txBox="1"/>
          <p:nvPr/>
        </p:nvSpPr>
        <p:spPr>
          <a:xfrm>
            <a:off x="3977640" y="4572000"/>
            <a:ext cx="150876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latin typeface="Poppins"/>
              </a:rPr>
              <a:t>Quentin</a:t>
            </a:r>
            <a:endParaRPr lang="fr-FR" sz="2400">
              <a:latin typeface="Poppins"/>
              <a:cs typeface="Poppins"/>
            </a:endParaRPr>
          </a:p>
          <a:p>
            <a:pPr algn="ctr"/>
            <a:endParaRPr lang="fr-FR" sz="160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4BE2E23-D93D-9A65-BB10-0D0D29426E54}"/>
              </a:ext>
            </a:extLst>
          </p:cNvPr>
          <p:cNvSpPr txBox="1"/>
          <p:nvPr/>
        </p:nvSpPr>
        <p:spPr>
          <a:xfrm>
            <a:off x="5966460" y="4572000"/>
            <a:ext cx="2514600" cy="14285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3750"/>
              </a:lnSpc>
            </a:pPr>
            <a:r>
              <a:rPr lang="fr-FR" sz="2400" b="1">
                <a:latin typeface="Poppins"/>
                <a:ea typeface="Segoe UI"/>
                <a:cs typeface="Poppins"/>
              </a:rPr>
              <a:t>Jean-François</a:t>
            </a:r>
            <a:endParaRPr lang="fr-FR" sz="2400" b="1" i="0">
              <a:latin typeface="Poppins"/>
              <a:ea typeface="Segoe UI"/>
              <a:cs typeface="Poppins"/>
            </a:endParaRPr>
          </a:p>
          <a:p>
            <a:pPr algn="ctr" rtl="0">
              <a:lnSpc>
                <a:spcPts val="2625"/>
              </a:lnSpc>
            </a:pPr>
            <a:r>
              <a:rPr lang="fr-FR" sz="1600" b="0" i="0" u="none" strike="noStrike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2100"/>
              </a:lnSpc>
            </a:pPr>
            <a:r>
              <a:rPr lang="fr-FR" sz="16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fr-FR" sz="160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CD63136-D9F3-EDBF-8478-C7984F2F2AEB}"/>
              </a:ext>
            </a:extLst>
          </p:cNvPr>
          <p:cNvSpPr txBox="1"/>
          <p:nvPr/>
        </p:nvSpPr>
        <p:spPr>
          <a:xfrm>
            <a:off x="2362200" y="1668780"/>
            <a:ext cx="1478280" cy="6305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2400" b="1" err="1">
                <a:latin typeface="Poppins"/>
                <a:cs typeface="Poppins"/>
              </a:rPr>
              <a:t>Aïnhoa</a:t>
            </a:r>
            <a:endParaRPr lang="fr-FR" sz="2400" b="1">
              <a:latin typeface="Poppins"/>
              <a:cs typeface="Poppins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46F1ACE-5406-2964-DC48-E82404143CFF}"/>
              </a:ext>
            </a:extLst>
          </p:cNvPr>
          <p:cNvSpPr txBox="1"/>
          <p:nvPr/>
        </p:nvSpPr>
        <p:spPr>
          <a:xfrm>
            <a:off x="8602980" y="3573780"/>
            <a:ext cx="1310640" cy="14285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750"/>
              </a:lnSpc>
            </a:pPr>
            <a:r>
              <a:rPr lang="fr-FR" sz="2400" b="1">
                <a:latin typeface="Poppins"/>
                <a:cs typeface="Poppins"/>
              </a:rPr>
              <a:t>Chloé </a:t>
            </a:r>
          </a:p>
          <a:p>
            <a:pPr algn="ctr" rtl="0">
              <a:lnSpc>
                <a:spcPts val="2625"/>
              </a:lnSpc>
            </a:pPr>
            <a:r>
              <a:rPr lang="fr-FR" sz="1600" b="1" i="0" u="none" strike="noStrike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  <a:r>
              <a:rPr lang="en-US" sz="1600" b="1" i="0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algn="ctr" rtl="0">
              <a:lnSpc>
                <a:spcPts val="2100"/>
              </a:lnSpc>
            </a:pPr>
            <a:r>
              <a:rPr lang="fr-FR" sz="1600" b="1" i="0">
                <a:solidFill>
                  <a:srgbClr val="000000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algn="ctr"/>
            <a:endParaRPr lang="fr-FR" sz="1600" b="1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58068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>
          <a:extLst>
            <a:ext uri="{FF2B5EF4-FFF2-40B4-BE49-F238E27FC236}">
              <a16:creationId xmlns:a16="http://schemas.microsoft.com/office/drawing/2014/main" id="{30FFB056-1EDE-D247-7AA1-5F5D39E9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>
            <a:extLst>
              <a:ext uri="{FF2B5EF4-FFF2-40B4-BE49-F238E27FC236}">
                <a16:creationId xmlns:a16="http://schemas.microsoft.com/office/drawing/2014/main" id="{5BE73310-E914-7E8A-6B69-FD9887C3D9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CF530503-EB6D-A51B-1880-AB568E56399B}"/>
              </a:ext>
            </a:extLst>
          </p:cNvPr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32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Difficultés</a:t>
            </a:r>
            <a:r>
              <a:rPr lang="en-US" sz="3200" b="1" u="sng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u="sng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rencontrées</a:t>
            </a:r>
            <a:endParaRPr lang="en-US" sz="3200" u="sng" err="1">
              <a:latin typeface="Poppins"/>
              <a:cs typeface="Poppins"/>
            </a:endParaRPr>
          </a:p>
        </p:txBody>
      </p:sp>
      <p:sp>
        <p:nvSpPr>
          <p:cNvPr id="223" name="Google Shape;223;p20">
            <a:extLst>
              <a:ext uri="{FF2B5EF4-FFF2-40B4-BE49-F238E27FC236}">
                <a16:creationId xmlns:a16="http://schemas.microsoft.com/office/drawing/2014/main" id="{A5EBE664-83E6-CE8A-1A14-95A666D1C833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Organigramme : Connecteur 11">
            <a:extLst>
              <a:ext uri="{FF2B5EF4-FFF2-40B4-BE49-F238E27FC236}">
                <a16:creationId xmlns:a16="http://schemas.microsoft.com/office/drawing/2014/main" id="{7919FFC4-0FDE-2269-24CB-1A57F124E459}"/>
              </a:ext>
            </a:extLst>
          </p:cNvPr>
          <p:cNvSpPr/>
          <p:nvPr/>
        </p:nvSpPr>
        <p:spPr>
          <a:xfrm>
            <a:off x="8311715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D8562-6302-2D69-BFB6-4567468806B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46926" y="6317605"/>
            <a:ext cx="2127143" cy="44261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C0573B-3EA1-87AA-B457-0F7F572D1530}"/>
              </a:ext>
            </a:extLst>
          </p:cNvPr>
          <p:cNvSpPr txBox="1"/>
          <p:nvPr/>
        </p:nvSpPr>
        <p:spPr>
          <a:xfrm>
            <a:off x="2697480" y="1600200"/>
            <a:ext cx="5013960" cy="529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750"/>
              </a:lnSpc>
            </a:pPr>
            <a:r>
              <a:rPr lang="fr-FR" sz="2000">
                <a:latin typeface="Poppins"/>
                <a:ea typeface="Segoe UI"/>
                <a:cs typeface="Poppins"/>
              </a:rPr>
              <a:t>Fonctionnement groupe</a:t>
            </a:r>
            <a:endParaRPr lang="fr-FR" sz="2000" b="0" i="0">
              <a:solidFill>
                <a:srgbClr val="000000"/>
              </a:solidFill>
              <a:latin typeface="Poppins"/>
              <a:ea typeface="Segoe UI"/>
              <a:cs typeface="Poppins"/>
            </a:endParaRPr>
          </a:p>
        </p:txBody>
      </p:sp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F2881E70-1A84-4C61-38E4-E8918CD00846}"/>
              </a:ext>
            </a:extLst>
          </p:cNvPr>
          <p:cNvSpPr/>
          <p:nvPr/>
        </p:nvSpPr>
        <p:spPr>
          <a:xfrm>
            <a:off x="2124275" y="164766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30B544A-D5EF-57E9-D0DF-C38ED4427869}"/>
              </a:ext>
            </a:extLst>
          </p:cNvPr>
          <p:cNvSpPr txBox="1">
            <a:spLocks/>
          </p:cNvSpPr>
          <p:nvPr/>
        </p:nvSpPr>
        <p:spPr>
          <a:xfrm>
            <a:off x="467106" y="1646545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1.</a:t>
            </a:r>
          </a:p>
        </p:txBody>
      </p: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0B8E2FC7-7DB4-2163-E95C-B43316213ACF}"/>
              </a:ext>
            </a:extLst>
          </p:cNvPr>
          <p:cNvSpPr/>
          <p:nvPr/>
        </p:nvSpPr>
        <p:spPr>
          <a:xfrm>
            <a:off x="2131895" y="237156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FBA74F3-2E9B-C349-C39F-2EBD9C7F59EF}"/>
              </a:ext>
            </a:extLst>
          </p:cNvPr>
          <p:cNvSpPr txBox="1">
            <a:spLocks/>
          </p:cNvSpPr>
          <p:nvPr/>
        </p:nvSpPr>
        <p:spPr>
          <a:xfrm>
            <a:off x="474726" y="2370444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2.</a:t>
            </a:r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7E5FD832-F344-8F8F-E2B4-B4303845F828}"/>
              </a:ext>
            </a:extLst>
          </p:cNvPr>
          <p:cNvSpPr/>
          <p:nvPr/>
        </p:nvSpPr>
        <p:spPr>
          <a:xfrm>
            <a:off x="2147135" y="308022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6868BF42-D6B9-1428-CEFC-D4BC4B9E6DFE}"/>
              </a:ext>
            </a:extLst>
          </p:cNvPr>
          <p:cNvSpPr txBox="1">
            <a:spLocks/>
          </p:cNvSpPr>
          <p:nvPr/>
        </p:nvSpPr>
        <p:spPr>
          <a:xfrm>
            <a:off x="489967" y="3079104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3.</a:t>
            </a:r>
          </a:p>
        </p:txBody>
      </p:sp>
      <p:sp>
        <p:nvSpPr>
          <p:cNvPr id="13" name="Organigramme : Connecteur 12">
            <a:extLst>
              <a:ext uri="{FF2B5EF4-FFF2-40B4-BE49-F238E27FC236}">
                <a16:creationId xmlns:a16="http://schemas.microsoft.com/office/drawing/2014/main" id="{7AF3977C-45B2-B904-EC57-3D97E1DD11B2}"/>
              </a:ext>
            </a:extLst>
          </p:cNvPr>
          <p:cNvSpPr/>
          <p:nvPr/>
        </p:nvSpPr>
        <p:spPr>
          <a:xfrm>
            <a:off x="2154755" y="383460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B18A5B7F-64D8-942E-F904-C3B5A2368F1B}"/>
              </a:ext>
            </a:extLst>
          </p:cNvPr>
          <p:cNvSpPr txBox="1">
            <a:spLocks/>
          </p:cNvSpPr>
          <p:nvPr/>
        </p:nvSpPr>
        <p:spPr>
          <a:xfrm>
            <a:off x="497587" y="3833484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4.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F22D3448-D146-5A27-81AB-9825B9B33C8A}"/>
              </a:ext>
            </a:extLst>
          </p:cNvPr>
          <p:cNvSpPr/>
          <p:nvPr/>
        </p:nvSpPr>
        <p:spPr>
          <a:xfrm>
            <a:off x="2162375" y="452802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77B7AE2-04E4-64ED-18A6-3075731C71F0}"/>
              </a:ext>
            </a:extLst>
          </p:cNvPr>
          <p:cNvSpPr txBox="1">
            <a:spLocks/>
          </p:cNvSpPr>
          <p:nvPr/>
        </p:nvSpPr>
        <p:spPr>
          <a:xfrm>
            <a:off x="505207" y="4526904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5.</a:t>
            </a:r>
          </a:p>
        </p:txBody>
      </p: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A2055CA2-9385-2929-11F4-364CC9CAD927}"/>
              </a:ext>
            </a:extLst>
          </p:cNvPr>
          <p:cNvSpPr/>
          <p:nvPr/>
        </p:nvSpPr>
        <p:spPr>
          <a:xfrm>
            <a:off x="2169995" y="5282409"/>
            <a:ext cx="525054" cy="440724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18212955-0EB6-C444-BC32-0D4CACD30DA9}"/>
              </a:ext>
            </a:extLst>
          </p:cNvPr>
          <p:cNvSpPr txBox="1">
            <a:spLocks/>
          </p:cNvSpPr>
          <p:nvPr/>
        </p:nvSpPr>
        <p:spPr>
          <a:xfrm>
            <a:off x="512827" y="5281284"/>
            <a:ext cx="2127143" cy="44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6.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BAE7544-9B76-F0BB-9D05-5570DFC4BF41}"/>
              </a:ext>
            </a:extLst>
          </p:cNvPr>
          <p:cNvSpPr txBox="1"/>
          <p:nvPr/>
        </p:nvSpPr>
        <p:spPr>
          <a:xfrm>
            <a:off x="2697480" y="4549140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Poppins"/>
                <a:cs typeface="Poppins"/>
              </a:rPr>
              <a:t>Réalisation diagrammes</a:t>
            </a:r>
            <a:endParaRPr lang="fr-FR">
              <a:latin typeface="Poppins"/>
              <a:cs typeface="Poppins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66ADA16-4282-B905-691A-B5049C97ACF7}"/>
              </a:ext>
            </a:extLst>
          </p:cNvPr>
          <p:cNvSpPr txBox="1"/>
          <p:nvPr/>
        </p:nvSpPr>
        <p:spPr>
          <a:xfrm>
            <a:off x="2697480" y="3855720"/>
            <a:ext cx="33985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Poppins"/>
                <a:cs typeface="Poppins"/>
              </a:rPr>
              <a:t>Prise en main Git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7A6CC14-944C-8B1A-B9D9-A2B39F702F7D}"/>
              </a:ext>
            </a:extLst>
          </p:cNvPr>
          <p:cNvSpPr txBox="1"/>
          <p:nvPr/>
        </p:nvSpPr>
        <p:spPr>
          <a:xfrm>
            <a:off x="2697480" y="3101340"/>
            <a:ext cx="28270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Poppins"/>
                <a:ea typeface="Calibri"/>
                <a:cs typeface="Poppins"/>
              </a:rPr>
              <a:t>Découverte Spring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2BBF8F-3F6B-AFE5-0798-5C36A30DB1A6}"/>
              </a:ext>
            </a:extLst>
          </p:cNvPr>
          <p:cNvSpPr txBox="1"/>
          <p:nvPr/>
        </p:nvSpPr>
        <p:spPr>
          <a:xfrm>
            <a:off x="2697480" y="2392680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Poppins"/>
                <a:cs typeface="Poppins"/>
              </a:rPr>
              <a:t>Réunions efficaces</a:t>
            </a:r>
            <a:endParaRPr lang="fr-FR">
              <a:latin typeface="Poppins"/>
              <a:cs typeface="Poppins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E0AB37E-4865-8C64-8D4C-84FCA7DC6F13}"/>
              </a:ext>
            </a:extLst>
          </p:cNvPr>
          <p:cNvSpPr txBox="1"/>
          <p:nvPr/>
        </p:nvSpPr>
        <p:spPr>
          <a:xfrm>
            <a:off x="2697480" y="5303520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Poppins"/>
                <a:cs typeface="Poppins"/>
              </a:rPr>
              <a:t>Finalisation</a:t>
            </a:r>
            <a:endParaRPr lang="fr-FR">
              <a:latin typeface="Poppins"/>
              <a:cs typeface="Poppins"/>
            </a:endParaRP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E61BFE64-5109-990B-593E-472FC33E2376}"/>
              </a:ext>
            </a:extLst>
          </p:cNvPr>
          <p:cNvSpPr/>
          <p:nvPr/>
        </p:nvSpPr>
        <p:spPr>
          <a:xfrm>
            <a:off x="6172199" y="1714500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366FBF1E-FC4F-4F66-E154-9DAFE4B5F51B}"/>
              </a:ext>
            </a:extLst>
          </p:cNvPr>
          <p:cNvSpPr/>
          <p:nvPr/>
        </p:nvSpPr>
        <p:spPr>
          <a:xfrm>
            <a:off x="6172199" y="2430780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20D5AEEC-79FF-306D-BC78-7E9F089F7C72}"/>
              </a:ext>
            </a:extLst>
          </p:cNvPr>
          <p:cNvSpPr/>
          <p:nvPr/>
        </p:nvSpPr>
        <p:spPr>
          <a:xfrm>
            <a:off x="6172199" y="3139440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CA3657B9-FD76-E5B0-6A53-185389FF55C3}"/>
              </a:ext>
            </a:extLst>
          </p:cNvPr>
          <p:cNvSpPr/>
          <p:nvPr/>
        </p:nvSpPr>
        <p:spPr>
          <a:xfrm>
            <a:off x="6172199" y="3893820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ECA2A2E0-E66A-756D-EED4-CA063B01C13A}"/>
              </a:ext>
            </a:extLst>
          </p:cNvPr>
          <p:cNvSpPr/>
          <p:nvPr/>
        </p:nvSpPr>
        <p:spPr>
          <a:xfrm>
            <a:off x="6172199" y="4587240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28BE9F84-8866-8A7C-DCF5-F5522A871427}"/>
              </a:ext>
            </a:extLst>
          </p:cNvPr>
          <p:cNvSpPr/>
          <p:nvPr/>
        </p:nvSpPr>
        <p:spPr>
          <a:xfrm>
            <a:off x="6172199" y="5341619"/>
            <a:ext cx="289560" cy="32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47A02AE-0506-2E5F-E89A-2E03F4E1E329}"/>
              </a:ext>
            </a:extLst>
          </p:cNvPr>
          <p:cNvSpPr txBox="1"/>
          <p:nvPr/>
        </p:nvSpPr>
        <p:spPr>
          <a:xfrm>
            <a:off x="6646333" y="1667932"/>
            <a:ext cx="3268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Caméras</a:t>
            </a:r>
            <a:endParaRPr lang="fr-FR" b="1">
              <a:solidFill>
                <a:srgbClr val="74A145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371189-F3C0-4F16-A4CF-E786F94C0930}"/>
              </a:ext>
            </a:extLst>
          </p:cNvPr>
          <p:cNvSpPr txBox="1"/>
          <p:nvPr/>
        </p:nvSpPr>
        <p:spPr>
          <a:xfrm>
            <a:off x="6646333" y="2396066"/>
            <a:ext cx="54186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Objectifs définis à l'avance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85B3D6D-022A-4897-8095-CEB3EDB383BD}"/>
              </a:ext>
            </a:extLst>
          </p:cNvPr>
          <p:cNvSpPr txBox="1"/>
          <p:nvPr/>
        </p:nvSpPr>
        <p:spPr>
          <a:xfrm>
            <a:off x="6646333" y="3124201"/>
            <a:ext cx="36576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Entraide </a:t>
            </a:r>
            <a:endParaRPr lang="fr-FR" b="1">
              <a:solidFill>
                <a:srgbClr val="74A145"/>
              </a:solidFill>
              <a:latin typeface="Poppins"/>
              <a:cs typeface="Poppins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FB0FB72-17C1-EABB-0C44-FD1C92EBD606}"/>
              </a:ext>
            </a:extLst>
          </p:cNvPr>
          <p:cNvSpPr txBox="1"/>
          <p:nvPr/>
        </p:nvSpPr>
        <p:spPr>
          <a:xfrm>
            <a:off x="6646333" y="3860799"/>
            <a:ext cx="19473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Conventions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3C02873-D90B-87FF-5630-E5D7F197A441}"/>
              </a:ext>
            </a:extLst>
          </p:cNvPr>
          <p:cNvSpPr txBox="1"/>
          <p:nvPr/>
        </p:nvSpPr>
        <p:spPr>
          <a:xfrm>
            <a:off x="6646333" y="4546600"/>
            <a:ext cx="20574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Persévérance </a:t>
            </a:r>
            <a:endParaRPr lang="fr-FR" b="1">
              <a:solidFill>
                <a:srgbClr val="74A145"/>
              </a:solidFill>
              <a:latin typeface="Poppins"/>
              <a:cs typeface="Poppin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73A91C1-6C63-FD9B-BC00-6285F4B8736F}"/>
              </a:ext>
            </a:extLst>
          </p:cNvPr>
          <p:cNvSpPr txBox="1"/>
          <p:nvPr/>
        </p:nvSpPr>
        <p:spPr>
          <a:xfrm>
            <a:off x="6646333" y="5300133"/>
            <a:ext cx="28448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solidFill>
                  <a:srgbClr val="74A145"/>
                </a:solidFill>
                <a:latin typeface="Poppins"/>
                <a:cs typeface="Poppins"/>
              </a:rPr>
              <a:t>Redoublé d'efforts</a:t>
            </a:r>
            <a:endParaRPr lang="fr-FR" b="1">
              <a:solidFill>
                <a:srgbClr val="74A145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55984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-159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3;p20">
            <a:extLst>
              <a:ext uri="{FF2B5EF4-FFF2-40B4-BE49-F238E27FC236}">
                <a16:creationId xmlns:a16="http://schemas.microsoft.com/office/drawing/2014/main" id="{7472AD2F-7B87-690B-D58D-60229E93ECF1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2;p20">
            <a:extLst>
              <a:ext uri="{FF2B5EF4-FFF2-40B4-BE49-F238E27FC236}">
                <a16:creationId xmlns:a16="http://schemas.microsoft.com/office/drawing/2014/main" id="{72CAE1A7-B14C-0330-CD3B-62975B3F9AB8}"/>
              </a:ext>
            </a:extLst>
          </p:cNvPr>
          <p:cNvSpPr txBox="1"/>
          <p:nvPr/>
        </p:nvSpPr>
        <p:spPr>
          <a:xfrm>
            <a:off x="762000" y="571500"/>
            <a:ext cx="114014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cs typeface="Poppins"/>
              </a:rPr>
              <a:t>9. </a:t>
            </a:r>
            <a:r>
              <a:rPr lang="en-US" sz="3200" b="1" u="sng">
                <a:solidFill>
                  <a:srgbClr val="5B3294"/>
                </a:solidFill>
                <a:latin typeface="Poppins"/>
                <a:cs typeface="Poppins"/>
              </a:rPr>
              <a:t>Conclusion</a:t>
            </a:r>
            <a:endParaRPr lang="en-US" sz="3200" b="1">
              <a:solidFill>
                <a:srgbClr val="5B3294"/>
              </a:solidFill>
              <a:latin typeface="Poppins"/>
              <a:cs typeface="Poppins"/>
            </a:endParaRPr>
          </a:p>
          <a:p>
            <a:endParaRPr lang="en-US" sz="2800" b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92EF95DD-3AA8-68FF-14EF-78A9D925F633}"/>
              </a:ext>
            </a:extLst>
          </p:cNvPr>
          <p:cNvSpPr/>
          <p:nvPr/>
        </p:nvSpPr>
        <p:spPr>
          <a:xfrm>
            <a:off x="8324899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92EA3A-7440-4693-0F8B-349397521B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63645" y="635635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1C5205-CCA9-6B80-79F1-552C280AD275}"/>
              </a:ext>
            </a:extLst>
          </p:cNvPr>
          <p:cNvSpPr/>
          <p:nvPr/>
        </p:nvSpPr>
        <p:spPr>
          <a:xfrm>
            <a:off x="614489" y="2120207"/>
            <a:ext cx="4462372" cy="4046021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90F9F1-2650-274B-7A9A-DB43353F0AFD}"/>
              </a:ext>
            </a:extLst>
          </p:cNvPr>
          <p:cNvSpPr/>
          <p:nvPr/>
        </p:nvSpPr>
        <p:spPr>
          <a:xfrm>
            <a:off x="7114721" y="2083035"/>
            <a:ext cx="4476313" cy="407390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9A8F1-D1EB-FDA4-0269-09331C2767DF}"/>
              </a:ext>
            </a:extLst>
          </p:cNvPr>
          <p:cNvSpPr txBox="1"/>
          <p:nvPr/>
        </p:nvSpPr>
        <p:spPr>
          <a:xfrm>
            <a:off x="613316" y="1310268"/>
            <a:ext cx="393545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>
                <a:solidFill>
                  <a:schemeClr val="tx1"/>
                </a:solidFill>
                <a:latin typeface="Poppins"/>
                <a:cs typeface="Poppins"/>
              </a:rPr>
              <a:t>Espace du </a:t>
            </a:r>
            <a:r>
              <a:rPr lang="en-US" sz="2000" b="1" u="sng" err="1">
                <a:solidFill>
                  <a:schemeClr val="tx1"/>
                </a:solidFill>
                <a:latin typeface="Poppins"/>
                <a:cs typeface="Poppins"/>
              </a:rPr>
              <a:t>problème</a:t>
            </a:r>
            <a:endParaRPr lang="en-US" sz="2000">
              <a:solidFill>
                <a:schemeClr val="tx1"/>
              </a:solidFill>
              <a:latin typeface="Poppins"/>
              <a:cs typeface="Poppins"/>
            </a:endParaRPr>
          </a:p>
          <a:p>
            <a:r>
              <a:rPr lang="en-US" sz="2000">
                <a:solidFill>
                  <a:schemeClr val="tx1"/>
                </a:solidFill>
                <a:latin typeface="Poppins"/>
                <a:cs typeface="Poppins"/>
              </a:rPr>
              <a:t>"</a:t>
            </a:r>
            <a:r>
              <a:rPr lang="en-US" sz="2000" err="1">
                <a:solidFill>
                  <a:schemeClr val="tx1"/>
                </a:solidFill>
                <a:latin typeface="Poppins"/>
                <a:cs typeface="Poppins"/>
              </a:rPr>
              <a:t>pourquoi</a:t>
            </a:r>
            <a:r>
              <a:rPr lang="en-US" sz="2000">
                <a:solidFill>
                  <a:schemeClr val="tx1"/>
                </a:solidFill>
                <a:latin typeface="Poppins"/>
                <a:cs typeface="Poppins"/>
              </a:rPr>
              <a:t> ?"</a:t>
            </a:r>
          </a:p>
          <a:p>
            <a:endParaRPr lang="en-US" sz="2000" b="1" u="sng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46927-EB08-86FF-C7A6-F2E77891F2C3}"/>
              </a:ext>
            </a:extLst>
          </p:cNvPr>
          <p:cNvSpPr txBox="1"/>
          <p:nvPr/>
        </p:nvSpPr>
        <p:spPr>
          <a:xfrm>
            <a:off x="7104257" y="1310269"/>
            <a:ext cx="366131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baseline="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Espace </a:t>
            </a:r>
            <a:r>
              <a:rPr lang="en-US" sz="2000" b="1" u="sng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de</a:t>
            </a:r>
            <a:r>
              <a:rPr lang="en-US" sz="2000" b="1" u="sng" baseline="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 </a:t>
            </a:r>
            <a:r>
              <a:rPr lang="en-US" sz="2000" b="1" u="sng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solution</a:t>
            </a:r>
            <a:endParaRPr lang="en-US" sz="2000">
              <a:solidFill>
                <a:schemeClr val="tx1"/>
              </a:solidFill>
              <a:latin typeface="Poppins"/>
              <a:ea typeface="Segoe UI"/>
              <a:cs typeface="Poppins"/>
            </a:endParaRPr>
          </a:p>
          <a:p>
            <a:pPr rtl="0"/>
            <a:r>
              <a:rPr lang="en-US" sz="2000" baseline="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"</a:t>
            </a:r>
            <a:r>
              <a:rPr lang="en-US" sz="200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comment</a:t>
            </a:r>
            <a:r>
              <a:rPr lang="en-US" sz="2000" baseline="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 ?"</a:t>
            </a:r>
            <a:r>
              <a:rPr lang="en-US" sz="200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rtl="0"/>
            <a:r>
              <a:rPr lang="en-US" sz="2000">
                <a:solidFill>
                  <a:schemeClr val="tx1"/>
                </a:solidFill>
                <a:latin typeface="Poppins"/>
                <a:ea typeface="Segoe UI"/>
                <a:cs typeface="Poppins"/>
              </a:rPr>
              <a:t>​</a:t>
            </a:r>
          </a:p>
          <a:p>
            <a:pPr algn="ctr"/>
            <a:endParaRPr lang="en-US" sz="200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186C78-2957-1174-F762-CB76351D3674}"/>
              </a:ext>
            </a:extLst>
          </p:cNvPr>
          <p:cNvSpPr/>
          <p:nvPr/>
        </p:nvSpPr>
        <p:spPr>
          <a:xfrm>
            <a:off x="883976" y="2422217"/>
            <a:ext cx="3923397" cy="598438"/>
          </a:xfrm>
          <a:prstGeom prst="roundRect">
            <a:avLst/>
          </a:prstGeom>
          <a:solidFill>
            <a:srgbClr val="8282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latin typeface="Poppins"/>
                <a:cs typeface="Poppins"/>
              </a:rPr>
              <a:t>Teams + Excel -&gt; </a:t>
            </a:r>
            <a:r>
              <a:rPr lang="en-US" sz="2000" err="1">
                <a:latin typeface="Poppins"/>
                <a:cs typeface="Poppins"/>
              </a:rPr>
              <a:t>manuel</a:t>
            </a:r>
            <a:endParaRPr lang="en-US" sz="2000">
              <a:latin typeface="Poppins"/>
              <a:cs typeface="Poppin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1CA2D-AAE4-D7E1-C16E-F2807523B2A6}"/>
              </a:ext>
            </a:extLst>
          </p:cNvPr>
          <p:cNvSpPr/>
          <p:nvPr/>
        </p:nvSpPr>
        <p:spPr>
          <a:xfrm>
            <a:off x="879331" y="3337546"/>
            <a:ext cx="3914104" cy="598438"/>
          </a:xfrm>
          <a:prstGeom prst="roundRect">
            <a:avLst/>
          </a:prstGeom>
          <a:solidFill>
            <a:srgbClr val="8282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latin typeface="Poppins"/>
                <a:cs typeface="Poppins"/>
              </a:rPr>
              <a:t>Effet</a:t>
            </a:r>
            <a:r>
              <a:rPr lang="en-US" sz="2000">
                <a:latin typeface="Poppins"/>
                <a:cs typeface="Poppins"/>
              </a:rPr>
              <a:t> domino (+-60/sem.)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DF805D-9155-B7F3-60FD-F8DF2E024054}"/>
              </a:ext>
            </a:extLst>
          </p:cNvPr>
          <p:cNvSpPr/>
          <p:nvPr/>
        </p:nvSpPr>
        <p:spPr>
          <a:xfrm>
            <a:off x="888624" y="4229643"/>
            <a:ext cx="3928042" cy="603084"/>
          </a:xfrm>
          <a:prstGeom prst="roundRect">
            <a:avLst/>
          </a:prstGeom>
          <a:solidFill>
            <a:srgbClr val="8282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latin typeface="Poppins"/>
                <a:cs typeface="Poppins"/>
              </a:rPr>
              <a:t>Erreurs</a:t>
            </a:r>
            <a:r>
              <a:rPr lang="en-US" sz="2000">
                <a:latin typeface="Poppins"/>
                <a:cs typeface="Poppins"/>
              </a:rPr>
              <a:t> </a:t>
            </a:r>
            <a:r>
              <a:rPr lang="en-US" sz="2000" err="1">
                <a:latin typeface="Poppins"/>
                <a:cs typeface="Poppins"/>
              </a:rPr>
              <a:t>fréquentes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6188815-313E-7BE7-5DF7-AF79A3FDC41C}"/>
              </a:ext>
            </a:extLst>
          </p:cNvPr>
          <p:cNvSpPr/>
          <p:nvPr/>
        </p:nvSpPr>
        <p:spPr>
          <a:xfrm>
            <a:off x="874684" y="5084570"/>
            <a:ext cx="3946629" cy="598438"/>
          </a:xfrm>
          <a:prstGeom prst="roundRect">
            <a:avLst/>
          </a:prstGeom>
          <a:solidFill>
            <a:srgbClr val="82828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latin typeface="Poppins"/>
                <a:cs typeface="Poppins"/>
              </a:rPr>
              <a:t>Affectation multi-</a:t>
            </a:r>
            <a:r>
              <a:rPr lang="en-US" sz="2000" err="1">
                <a:latin typeface="Poppins"/>
                <a:cs typeface="Poppins"/>
              </a:rPr>
              <a:t>critères</a:t>
            </a:r>
            <a:endParaRPr lang="en-US" sz="2000">
              <a:latin typeface="Poppins"/>
              <a:cs typeface="Poppin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8A0986-0D8C-D713-BF01-AA21D7936D85}"/>
              </a:ext>
            </a:extLst>
          </p:cNvPr>
          <p:cNvSpPr/>
          <p:nvPr/>
        </p:nvSpPr>
        <p:spPr>
          <a:xfrm>
            <a:off x="5998930" y="1141226"/>
            <a:ext cx="132951" cy="5225020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4D3E47-50DA-7DCD-755C-819607EDFD21}"/>
              </a:ext>
            </a:extLst>
          </p:cNvPr>
          <p:cNvSpPr/>
          <p:nvPr/>
        </p:nvSpPr>
        <p:spPr>
          <a:xfrm>
            <a:off x="7416733" y="2375754"/>
            <a:ext cx="3941982" cy="598438"/>
          </a:xfrm>
          <a:prstGeom prst="roundRect">
            <a:avLst/>
          </a:prstGeom>
          <a:solidFill>
            <a:srgbClr val="74A14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latin typeface="Poppins"/>
                <a:cs typeface="Poppins"/>
              </a:rPr>
              <a:t>Architecture MVC</a:t>
            </a:r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030892C-7439-ED26-7BB0-591F3A5740C6}"/>
              </a:ext>
            </a:extLst>
          </p:cNvPr>
          <p:cNvSpPr/>
          <p:nvPr/>
        </p:nvSpPr>
        <p:spPr>
          <a:xfrm>
            <a:off x="7416732" y="3291082"/>
            <a:ext cx="3941982" cy="598438"/>
          </a:xfrm>
          <a:prstGeom prst="roundRect">
            <a:avLst/>
          </a:prstGeom>
          <a:solidFill>
            <a:srgbClr val="74A14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latin typeface="Poppins"/>
                <a:cs typeface="Poppins"/>
              </a:rPr>
              <a:t>Spring MVC (DTO, Services)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3391A2-C625-B61A-5833-BF1EA68E331D}"/>
              </a:ext>
            </a:extLst>
          </p:cNvPr>
          <p:cNvSpPr/>
          <p:nvPr/>
        </p:nvSpPr>
        <p:spPr>
          <a:xfrm>
            <a:off x="7388853" y="4183179"/>
            <a:ext cx="3941982" cy="598438"/>
          </a:xfrm>
          <a:prstGeom prst="roundRect">
            <a:avLst/>
          </a:prstGeom>
          <a:solidFill>
            <a:srgbClr val="74A145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latin typeface="Poppins"/>
                <a:cs typeface="Poppins"/>
              </a:rPr>
              <a:t>Thymeleaf</a:t>
            </a:r>
            <a:r>
              <a:rPr lang="en-US" sz="2000">
                <a:latin typeface="Poppins"/>
                <a:cs typeface="Poppins"/>
              </a:rPr>
              <a:t> + JavaScript</a:t>
            </a:r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7C751A8-564B-C07B-5DB1-FA2D26F1552C}"/>
              </a:ext>
            </a:extLst>
          </p:cNvPr>
          <p:cNvSpPr/>
          <p:nvPr/>
        </p:nvSpPr>
        <p:spPr>
          <a:xfrm>
            <a:off x="7416730" y="5038105"/>
            <a:ext cx="3941982" cy="598438"/>
          </a:xfrm>
          <a:prstGeom prst="roundRect">
            <a:avLst/>
          </a:prstGeom>
          <a:solidFill>
            <a:srgbClr val="74A14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latin typeface="Poppins"/>
                <a:cs typeface="Poppins"/>
              </a:rPr>
              <a:t>DAO + Base de données</a:t>
            </a:r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1D555DD-8CFE-9116-F16F-D999F479A2E3}"/>
              </a:ext>
            </a:extLst>
          </p:cNvPr>
          <p:cNvSpPr/>
          <p:nvPr/>
        </p:nvSpPr>
        <p:spPr>
          <a:xfrm>
            <a:off x="5090640" y="3727198"/>
            <a:ext cx="2011410" cy="325656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>
          <a:extLst>
            <a:ext uri="{FF2B5EF4-FFF2-40B4-BE49-F238E27FC236}">
              <a16:creationId xmlns:a16="http://schemas.microsoft.com/office/drawing/2014/main" id="{35F75297-9894-9E69-0BA5-9B05FDD7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>
            <a:extLst>
              <a:ext uri="{FF2B5EF4-FFF2-40B4-BE49-F238E27FC236}">
                <a16:creationId xmlns:a16="http://schemas.microsoft.com/office/drawing/2014/main" id="{3BD65068-BC90-3E8A-9325-2BC30B2BCE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>
            <a:extLst>
              <a:ext uri="{FF2B5EF4-FFF2-40B4-BE49-F238E27FC236}">
                <a16:creationId xmlns:a16="http://schemas.microsoft.com/office/drawing/2014/main" id="{64C1012B-6B14-FB0C-7E8F-2EED6A57EB81}"/>
              </a:ext>
            </a:extLst>
          </p:cNvPr>
          <p:cNvSpPr txBox="1"/>
          <p:nvPr/>
        </p:nvSpPr>
        <p:spPr>
          <a:xfrm>
            <a:off x="295275" y="163721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Merci pour </a:t>
            </a:r>
            <a:r>
              <a:rPr lang="en-US" sz="3600" b="1" i="0" u="none" strike="noStrike" cap="none" err="1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votre</a:t>
            </a:r>
            <a:r>
              <a:rPr lang="en-US" sz="3600" b="1" i="0" u="none" strike="noStrike" cap="none">
                <a:solidFill>
                  <a:srgbClr val="5B3294"/>
                </a:solidFill>
                <a:latin typeface="Poppins"/>
                <a:ea typeface="Poppins"/>
                <a:cs typeface="Poppins"/>
                <a:sym typeface="Poppins"/>
              </a:rPr>
              <a:t> attention !</a:t>
            </a:r>
            <a:endParaRPr lang="en-US" sz="3600"/>
          </a:p>
        </p:txBody>
      </p:sp>
      <p:sp>
        <p:nvSpPr>
          <p:cNvPr id="242" name="Google Shape;242;p22">
            <a:extLst>
              <a:ext uri="{FF2B5EF4-FFF2-40B4-BE49-F238E27FC236}">
                <a16:creationId xmlns:a16="http://schemas.microsoft.com/office/drawing/2014/main" id="{4DA200F7-11D6-F66E-8287-8192CB66837A}"/>
              </a:ext>
            </a:extLst>
          </p:cNvPr>
          <p:cNvSpPr txBox="1"/>
          <p:nvPr/>
        </p:nvSpPr>
        <p:spPr>
          <a:xfrm>
            <a:off x="-117431" y="3022108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Avez</a:t>
            </a:r>
            <a:r>
              <a:rPr lang="en-US" sz="24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-vous des questions ?</a:t>
            </a:r>
            <a:endParaRPr lang="en-US" sz="2400"/>
          </a:p>
        </p:txBody>
      </p:sp>
      <p:pic>
        <p:nvPicPr>
          <p:cNvPr id="9" name="Image 8" descr="Une image contenant cercle, Graphique, conception, art  Le contenu généré par l’IA peut être incorrect.">
            <a:extLst>
              <a:ext uri="{FF2B5EF4-FFF2-40B4-BE49-F238E27FC236}">
                <a16:creationId xmlns:a16="http://schemas.microsoft.com/office/drawing/2014/main" id="{B112168C-CD32-8590-C037-B6416771A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983" y="2540752"/>
            <a:ext cx="1983699" cy="1778851"/>
          </a:xfrm>
          <a:prstGeom prst="rect">
            <a:avLst/>
          </a:prstGeom>
        </p:spPr>
      </p:pic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7C8523C0-DAF6-8D28-8C8D-9672ECC0F351}"/>
              </a:ext>
            </a:extLst>
          </p:cNvPr>
          <p:cNvSpPr/>
          <p:nvPr/>
        </p:nvSpPr>
        <p:spPr>
          <a:xfrm>
            <a:off x="8324899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50D97A-5D86-E652-64A3-09B9B9F448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63645" y="635635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5463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/>
      <p:bldP spid="2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>
          <a:extLst>
            <a:ext uri="{FF2B5EF4-FFF2-40B4-BE49-F238E27FC236}">
              <a16:creationId xmlns:a16="http://schemas.microsoft.com/office/drawing/2014/main" id="{460A4A61-4C00-5B5D-A94E-7A1B072B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>
            <a:extLst>
              <a:ext uri="{FF2B5EF4-FFF2-40B4-BE49-F238E27FC236}">
                <a16:creationId xmlns:a16="http://schemas.microsoft.com/office/drawing/2014/main" id="{A9EF68AA-B216-B41C-20E4-15E9E1FB8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86" y="-159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C88460C-E07B-5F32-A686-75E4E17D8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945776"/>
            <a:ext cx="5943599" cy="5907741"/>
          </a:xfrm>
          <a:prstGeom prst="rect">
            <a:avLst/>
          </a:prstGeom>
        </p:spPr>
      </p:pic>
      <p:sp>
        <p:nvSpPr>
          <p:cNvPr id="6" name="Google Shape;223;p20">
            <a:extLst>
              <a:ext uri="{FF2B5EF4-FFF2-40B4-BE49-F238E27FC236}">
                <a16:creationId xmlns:a16="http://schemas.microsoft.com/office/drawing/2014/main" id="{B78F2A8E-2744-18E8-3030-92A6A8DDAC22}"/>
              </a:ext>
            </a:extLst>
          </p:cNvPr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5B329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2;p20">
            <a:extLst>
              <a:ext uri="{FF2B5EF4-FFF2-40B4-BE49-F238E27FC236}">
                <a16:creationId xmlns:a16="http://schemas.microsoft.com/office/drawing/2014/main" id="{E84FABDA-48C2-5B06-8E87-1589AFD831C9}"/>
              </a:ext>
            </a:extLst>
          </p:cNvPr>
          <p:cNvSpPr txBox="1"/>
          <p:nvPr/>
        </p:nvSpPr>
        <p:spPr>
          <a:xfrm>
            <a:off x="762000" y="571500"/>
            <a:ext cx="114014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>
                <a:solidFill>
                  <a:srgbClr val="5B3294"/>
                </a:solidFill>
                <a:latin typeface="Poppins"/>
                <a:cs typeface="Poppins"/>
              </a:rPr>
              <a:t>10. </a:t>
            </a:r>
            <a:r>
              <a:rPr lang="en-US" sz="3200" b="1" u="sng">
                <a:solidFill>
                  <a:srgbClr val="5B3294"/>
                </a:solidFill>
                <a:latin typeface="Poppins"/>
                <a:cs typeface="Poppins"/>
              </a:rPr>
              <a:t>Demonstration</a:t>
            </a:r>
            <a:endParaRPr lang="en-US" sz="3200" b="1">
              <a:solidFill>
                <a:srgbClr val="5B3294"/>
              </a:solidFill>
              <a:latin typeface="Poppins"/>
              <a:cs typeface="Poppins"/>
            </a:endParaRPr>
          </a:p>
          <a:p>
            <a:endParaRPr lang="en-US" sz="2800" b="1">
              <a:solidFill>
                <a:srgbClr val="5B3294"/>
              </a:solidFill>
              <a:latin typeface="Poppins"/>
              <a:cs typeface="Poppi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E15C9-8191-6877-AFEB-1A6EBDB235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663645" y="6356350"/>
            <a:ext cx="2133600" cy="365125"/>
          </a:xfrm>
        </p:spPr>
        <p:txBody>
          <a:bodyPr/>
          <a:lstStyle/>
          <a:p>
            <a:r>
              <a:rPr lang="en-US" sz="180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7" name="Organigramme : Connecteur 6">
            <a:extLst>
              <a:ext uri="{FF2B5EF4-FFF2-40B4-BE49-F238E27FC236}">
                <a16:creationId xmlns:a16="http://schemas.microsoft.com/office/drawing/2014/main" id="{B5B8D677-972C-F341-1214-2DAD502E2EFD}"/>
              </a:ext>
            </a:extLst>
          </p:cNvPr>
          <p:cNvSpPr/>
          <p:nvPr/>
        </p:nvSpPr>
        <p:spPr>
          <a:xfrm>
            <a:off x="8324899" y="6311109"/>
            <a:ext cx="471714" cy="455964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2392431E-57D2-7415-286A-0B9D89C87725}"/>
              </a:ext>
            </a:extLst>
          </p:cNvPr>
          <p:cNvSpPr txBox="1">
            <a:spLocks/>
          </p:cNvSpPr>
          <p:nvPr/>
        </p:nvSpPr>
        <p:spPr>
          <a:xfrm>
            <a:off x="6663645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19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A83CF1-ED1C-AE5A-66F4-4E6FA09F4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268" y="1553916"/>
            <a:ext cx="1923246" cy="175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7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20</Slides>
  <Notes>20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281</cp:revision>
  <dcterms:modified xsi:type="dcterms:W3CDTF">2026-06-14T20:20:19Z</dcterms:modified>
</cp:coreProperties>
</file>